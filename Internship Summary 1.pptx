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256"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85" autoAdjust="0"/>
  </p:normalViewPr>
  <p:slideViewPr>
    <p:cSldViewPr snapToGrid="0" showGuides="1">
      <p:cViewPr varScale="1">
        <p:scale>
          <a:sx n="98" d="100"/>
          <a:sy n="98" d="100"/>
        </p:scale>
        <p:origin x="1074" y="312"/>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11/25/2025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5" name="Picture 4" descr="A white letter on black background&#10;&#10;AI-generated content may be incorrect.">
            <a:extLst>
              <a:ext uri="{FF2B5EF4-FFF2-40B4-BE49-F238E27FC236}">
                <a16:creationId xmlns:a16="http://schemas.microsoft.com/office/drawing/2014/main" id="{2AE9A991-1731-088C-872E-5F0729EE9A0D}"/>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5" name="Picture 4" descr="A white letter on black background&#10;&#10;AI-generated content may be incorrect.">
            <a:extLst>
              <a:ext uri="{FF2B5EF4-FFF2-40B4-BE49-F238E27FC236}">
                <a16:creationId xmlns:a16="http://schemas.microsoft.com/office/drawing/2014/main" id="{110C0A59-98DE-7D8F-86CF-99E5F4FE7915}"/>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72B66E50-E002-F365-B231-30C9BC66D006}"/>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465B2167-38F3-7D39-ABBF-410CF424B46F}"/>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 Tagline">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E0A750A0-4A47-1C89-D304-6F66317EF1E4}"/>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6507439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 Tagline">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C04B366D-C68C-E8E1-D016-2C47758B44E8}"/>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60474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Taglin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A8630C-96A3-BF9D-50AE-84F868754BE9}"/>
              </a:ext>
            </a:extLst>
          </p:cNvPr>
          <p:cNvPicPr>
            <a:picLocks noChangeAspect="1"/>
          </p:cNvPicPr>
          <p:nvPr userDrawn="1"/>
        </p:nvPicPr>
        <p:blipFill>
          <a:blip r:embed="rId2"/>
          <a:stretch>
            <a:fillRect/>
          </a:stretch>
        </p:blipFill>
        <p:spPr>
          <a:xfrm>
            <a:off x="481330" y="4761517"/>
            <a:ext cx="3216027" cy="442307"/>
          </a:xfrm>
          <a:prstGeom prst="rect">
            <a:avLst/>
          </a:prstGeom>
        </p:spPr>
      </p:pic>
      <p:sp>
        <p:nvSpPr>
          <p:cNvPr id="3" name="Legal">
            <a:extLst>
              <a:ext uri="{FF2B5EF4-FFF2-40B4-BE49-F238E27FC236}">
                <a16:creationId xmlns:a16="http://schemas.microsoft.com/office/drawing/2014/main" id="{079A6F00-9D47-864A-7B12-7400B50ACF3F}"/>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7982266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Tagline - Dark Mode ">
    <p:bg>
      <p:bgPr>
        <a:solidFill>
          <a:srgbClr val="000000"/>
        </a:solidFill>
        <a:effectLst/>
      </p:bgPr>
    </p:bg>
    <p:spTree>
      <p:nvGrpSpPr>
        <p:cNvPr id="1" name=""/>
        <p:cNvGrpSpPr/>
        <p:nvPr/>
      </p:nvGrpSpPr>
      <p:grpSpPr>
        <a:xfrm>
          <a:off x="0" y="0"/>
          <a:ext cx="0" cy="0"/>
          <a:chOff x="0" y="0"/>
          <a:chExt cx="0" cy="0"/>
        </a:xfrm>
      </p:grpSpPr>
      <p:pic>
        <p:nvPicPr>
          <p:cNvPr id="6" name="Picture 5" descr="A white letter on black background&#10;&#10;AI-generated content may be incorrect.">
            <a:extLst>
              <a:ext uri="{FF2B5EF4-FFF2-40B4-BE49-F238E27FC236}">
                <a16:creationId xmlns:a16="http://schemas.microsoft.com/office/drawing/2014/main" id="{3C2F93BD-11DD-2341-181C-9E6B08D4E6F4}"/>
              </a:ext>
            </a:extLst>
          </p:cNvPr>
          <p:cNvPicPr>
            <a:picLocks noChangeAspect="1"/>
          </p:cNvPicPr>
          <p:nvPr userDrawn="1"/>
        </p:nvPicPr>
        <p:blipFill>
          <a:blip r:embed="rId2"/>
          <a:stretch>
            <a:fillRect/>
          </a:stretch>
        </p:blipFill>
        <p:spPr>
          <a:xfrm>
            <a:off x="481330" y="4762885"/>
            <a:ext cx="3206087" cy="440940"/>
          </a:xfrm>
          <a:prstGeom prst="rect">
            <a:avLst/>
          </a:prstGeom>
        </p:spPr>
      </p:pic>
      <p:sp>
        <p:nvSpPr>
          <p:cNvPr id="3" name="Legal">
            <a:extLst>
              <a:ext uri="{FF2B5EF4-FFF2-40B4-BE49-F238E27FC236}">
                <a16:creationId xmlns:a16="http://schemas.microsoft.com/office/drawing/2014/main" id="{B1252A5C-2388-D5FB-153C-E8FC9B3DB418}"/>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42550201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A931CEF5-1D00-3760-7809-BDF56D0FE198}"/>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08578C54-A97A-A59F-100F-FA1BB64B8251}"/>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CFD3736C-471D-A96D-E313-FE827167BD93}"/>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pic>
        <p:nvPicPr>
          <p:cNvPr id="5" name="Picture 4" descr="A white letter on black background&#10;&#10;AI-generated content may be incorrect.">
            <a:extLst>
              <a:ext uri="{FF2B5EF4-FFF2-40B4-BE49-F238E27FC236}">
                <a16:creationId xmlns:a16="http://schemas.microsoft.com/office/drawing/2014/main" id="{E5B283E8-13E4-CE0E-98BA-967E0DE782C0}"/>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 Tagline">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pic>
        <p:nvPicPr>
          <p:cNvPr id="7" name="Picture 6" descr="A white letter on black background&#10;&#10;AI-generated content may be incorrect.">
            <a:extLst>
              <a:ext uri="{FF2B5EF4-FFF2-40B4-BE49-F238E27FC236}">
                <a16:creationId xmlns:a16="http://schemas.microsoft.com/office/drawing/2014/main" id="{C01C6447-BD58-3B23-2F9B-08528BCB5715}"/>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7514407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 Tagline">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64E66135-2F33-3466-25F4-421E1DAED13B}"/>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7766302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AC859D47-FFDA-4D4C-450F-BC1531A5F6D1}"/>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6" name="Picture 5" descr="A white letter on black background&#10;&#10;AI-generated content may be incorrect.">
            <a:extLst>
              <a:ext uri="{FF2B5EF4-FFF2-40B4-BE49-F238E27FC236}">
                <a16:creationId xmlns:a16="http://schemas.microsoft.com/office/drawing/2014/main" id="{3A90209C-4160-BD93-E0D9-D294128A903B}"/>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773916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
        <p:nvSpPr>
          <p:cNvPr id="7" name="TextBox 6">
            <a:extLst>
              <a:ext uri="{FF2B5EF4-FFF2-40B4-BE49-F238E27FC236}">
                <a16:creationId xmlns:a16="http://schemas.microsoft.com/office/drawing/2014/main" id="{8D7F64F9-CB88-C3A7-1F87-7943ED5FB395}"/>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8" name="TextBox 7">
            <a:extLst>
              <a:ext uri="{FF2B5EF4-FFF2-40B4-BE49-F238E27FC236}">
                <a16:creationId xmlns:a16="http://schemas.microsoft.com/office/drawing/2014/main" id="{E7897922-DE77-44A0-E577-16EDF68E9676}"/>
              </a:ext>
            </a:extLst>
          </p:cNvPr>
          <p:cNvSpPr txBox="1"/>
          <p:nvPr userDrawn="1">
            <p:extLst>
              <p:ext uri="{1162E1C5-73C7-4A58-AE30-91384D911F3F}">
                <p184:classification xmlns:p184="http://schemas.microsoft.com/office/powerpoint/2018/4/main" val="ftr"/>
              </p:ext>
            </p:extLst>
          </p:nvPr>
        </p:nvSpPr>
        <p:spPr>
          <a:xfrm>
            <a:off x="0" y="6675120"/>
            <a:ext cx="1341438" cy="137160"/>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53" r:id="rId5"/>
    <p:sldLayoutId id="2147483754"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752" r:id="rId38"/>
    <p:sldLayoutId id="2147483751" r:id="rId39"/>
    <p:sldLayoutId id="2147483743" r:id="rId40"/>
    <p:sldLayoutId id="2147483744" r:id="rId41"/>
    <p:sldLayoutId id="2147483745" r:id="rId42"/>
    <p:sldLayoutId id="2147483746" r:id="rId43"/>
    <p:sldLayoutId id="2147483755" r:id="rId44"/>
    <p:sldLayoutId id="2147483756" r:id="rId45"/>
    <p:sldLayoutId id="2147483749" r:id="rId46"/>
    <p:sldLayoutId id="2147483750" r:id="rId47"/>
    <p:sldLayoutId id="2147483757"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7474" y="484632"/>
            <a:ext cx="6265926" cy="2944368"/>
          </a:xfrm>
        </p:spPr>
        <p:txBody>
          <a:bodyPr anchor="b">
            <a:normAutofit/>
          </a:bodyPr>
          <a:lstStyle/>
          <a:p>
            <a:r>
              <a:rPr lang="en-US" sz="4800" dirty="0"/>
              <a:t>Internship Summary</a:t>
            </a:r>
          </a:p>
        </p:txBody>
      </p:sp>
      <p:sp>
        <p:nvSpPr>
          <p:cNvPr id="3" name="Subtitle 2"/>
          <p:cNvSpPr>
            <a:spLocks noGrp="1"/>
          </p:cNvSpPr>
          <p:nvPr>
            <p:ph type="subTitle" idx="1"/>
          </p:nvPr>
        </p:nvSpPr>
        <p:spPr>
          <a:xfrm>
            <a:off x="1887474" y="3723437"/>
            <a:ext cx="6265926" cy="886968"/>
          </a:xfrm>
        </p:spPr>
        <p:txBody>
          <a:bodyPr>
            <a:normAutofit/>
          </a:bodyPr>
          <a:lstStyle/>
          <a:p>
            <a:pPr>
              <a:spcAft>
                <a:spcPts val="600"/>
              </a:spcAft>
            </a:pPr>
            <a:r>
              <a:rPr lang="en-US" dirty="0"/>
              <a:t>Sukrit Tripathi</a:t>
            </a:r>
          </a:p>
          <a:p>
            <a:pPr>
              <a:spcAft>
                <a:spcPts val="600"/>
              </a:spcAft>
            </a:pPr>
            <a:r>
              <a:rPr lang="en-US" dirty="0"/>
              <a:t>11/25/2025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Impact-Focused Overview</a:t>
            </a:r>
          </a:p>
        </p:txBody>
      </p:sp>
      <p:sp>
        <p:nvSpPr>
          <p:cNvPr id="3" name="Content Placeholder 2"/>
          <p:cNvSpPr>
            <a:spLocks noGrp="1"/>
          </p:cNvSpPr>
          <p:nvPr>
            <p:ph idx="1"/>
          </p:nvPr>
        </p:nvSpPr>
        <p:spPr/>
        <p:txBody>
          <a:bodyPr/>
          <a:lstStyle/>
          <a:p>
            <a:pPr marL="0" indent="0">
              <a:buNone/>
            </a:pPr>
            <a:r>
              <a:rPr lang="en-US" sz="1200" b="1" dirty="0"/>
              <a:t>My Internship Journey</a:t>
            </a:r>
          </a:p>
          <a:p>
            <a:pPr marL="0" indent="0">
              <a:buNone/>
            </a:pPr>
            <a:r>
              <a:rPr lang="en-US" sz="1200" b="1" dirty="0"/>
              <a:t>5 Strategic Initiatives</a:t>
            </a:r>
            <a:endParaRPr lang="en-US" sz="1200" dirty="0"/>
          </a:p>
          <a:p>
            <a:r>
              <a:rPr lang="en-US" sz="1200" dirty="0"/>
              <a:t>Prompt Wizard | </a:t>
            </a:r>
            <a:r>
              <a:rPr lang="en-US" sz="1200" dirty="0" err="1"/>
              <a:t>MIAdmin</a:t>
            </a:r>
            <a:r>
              <a:rPr lang="en-US" sz="1200" dirty="0"/>
              <a:t>/</a:t>
            </a:r>
            <a:r>
              <a:rPr lang="en-US" sz="1200" dirty="0" err="1"/>
              <a:t>NimiApp</a:t>
            </a:r>
            <a:r>
              <a:rPr lang="en-US" sz="1200" dirty="0"/>
              <a:t> | Attrition Forecasting | LLM Evaluation | AR GenAI Summary</a:t>
            </a:r>
          </a:p>
          <a:p>
            <a:pPr marL="0" indent="0">
              <a:buNone/>
            </a:pPr>
            <a:r>
              <a:rPr lang="en-US" sz="1200" b="1" dirty="0"/>
              <a:t>Key Contributions</a:t>
            </a:r>
            <a:endParaRPr lang="en-US" sz="1200" dirty="0"/>
          </a:p>
          <a:p>
            <a:r>
              <a:rPr lang="en-US" sz="1200" b="1" dirty="0"/>
              <a:t>Innovated</a:t>
            </a:r>
            <a:r>
              <a:rPr lang="en-US" sz="1200" dirty="0"/>
              <a:t> agentic AI features for prompt optimization</a:t>
            </a:r>
          </a:p>
          <a:p>
            <a:r>
              <a:rPr lang="en-US" sz="1200" b="1" dirty="0"/>
              <a:t>Modernized</a:t>
            </a:r>
            <a:r>
              <a:rPr lang="en-US" sz="1200" dirty="0"/>
              <a:t> authentication infrastructure (OAuth → Graph API)</a:t>
            </a:r>
          </a:p>
          <a:p>
            <a:r>
              <a:rPr lang="en-US" sz="1200" b="1" dirty="0"/>
              <a:t>Designed</a:t>
            </a:r>
            <a:r>
              <a:rPr lang="en-US" sz="1200" dirty="0"/>
              <a:t> statistical frameworks for LLM hyperparameter analysis</a:t>
            </a:r>
          </a:p>
          <a:p>
            <a:r>
              <a:rPr lang="en-US" sz="1200" b="1" dirty="0"/>
              <a:t>Automated</a:t>
            </a:r>
            <a:r>
              <a:rPr lang="en-US" sz="1200" dirty="0"/>
              <a:t> executive summary generation from forecast data</a:t>
            </a:r>
          </a:p>
          <a:p>
            <a:r>
              <a:rPr lang="en-US" sz="1200" b="1" dirty="0"/>
              <a:t>Researched</a:t>
            </a:r>
            <a:r>
              <a:rPr lang="en-US" sz="1200" dirty="0"/>
              <a:t> agents on Snowflake and Cortex Analyst capabilities</a:t>
            </a:r>
          </a:p>
          <a:p>
            <a:pPr marL="0" indent="0">
              <a:buNone/>
            </a:pPr>
            <a:r>
              <a:rPr lang="en-US" sz="1200" b="1" dirty="0"/>
              <a:t>Core Focus Areas</a:t>
            </a:r>
            <a:br>
              <a:rPr lang="en-US" sz="1200" dirty="0"/>
            </a:br>
            <a:r>
              <a:rPr lang="en-US" sz="1200" dirty="0"/>
              <a:t>GenAI/LLM Integration • Cloud Architecture • Statistical Analysis • Process Automation</a:t>
            </a:r>
          </a:p>
          <a:p>
            <a:pPr marL="0" indent="0">
              <a:buNone/>
            </a:pPr>
            <a:endParaRPr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E86C-AF69-D299-CEAB-E423A6456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4493B-0590-79AC-8403-04A3302403AD}"/>
              </a:ext>
            </a:extLst>
          </p:cNvPr>
          <p:cNvSpPr>
            <a:spLocks noGrp="1"/>
          </p:cNvSpPr>
          <p:nvPr>
            <p:ph type="title"/>
          </p:nvPr>
        </p:nvSpPr>
        <p:spPr/>
        <p:txBody>
          <a:bodyPr/>
          <a:lstStyle/>
          <a:p>
            <a:r>
              <a:rPr lang="en-US" dirty="0"/>
              <a:t>Prompt Wizard: Advanced GenAI Summarization Tool</a:t>
            </a:r>
          </a:p>
        </p:txBody>
      </p:sp>
      <p:sp>
        <p:nvSpPr>
          <p:cNvPr id="3" name="Content Placeholder 2">
            <a:extLst>
              <a:ext uri="{FF2B5EF4-FFF2-40B4-BE49-F238E27FC236}">
                <a16:creationId xmlns:a16="http://schemas.microsoft.com/office/drawing/2014/main" id="{5D198554-ACB3-A21D-817B-C011BFC95823}"/>
              </a:ext>
            </a:extLst>
          </p:cNvPr>
          <p:cNvSpPr>
            <a:spLocks noGrp="1"/>
          </p:cNvSpPr>
          <p:nvPr>
            <p:ph idx="1"/>
          </p:nvPr>
        </p:nvSpPr>
        <p:spPr>
          <a:xfrm>
            <a:off x="484630" y="1148642"/>
            <a:ext cx="11219688" cy="5224726"/>
          </a:xfrm>
        </p:spPr>
        <p:txBody>
          <a:bodyPr/>
          <a:lstStyle/>
          <a:p>
            <a:pPr marL="0" indent="0">
              <a:buNone/>
            </a:pPr>
            <a:r>
              <a:rPr lang="en-US" sz="1200" b="1" dirty="0"/>
              <a:t>The Challenge: </a:t>
            </a:r>
            <a:r>
              <a:rPr lang="en-US" sz="1200" dirty="0" err="1"/>
              <a:t>VertexAI</a:t>
            </a:r>
            <a:r>
              <a:rPr lang="en-US" sz="1200" dirty="0"/>
              <a:t> limitations in file handling and user control identified by Product Owners</a:t>
            </a:r>
          </a:p>
          <a:p>
            <a:pPr marL="0" indent="0">
              <a:buNone/>
            </a:pPr>
            <a:r>
              <a:rPr lang="en-US" sz="1200" b="1" dirty="0"/>
              <a:t>Core Innovations</a:t>
            </a:r>
            <a:endParaRPr lang="en-US" sz="1200" dirty="0"/>
          </a:p>
          <a:p>
            <a:r>
              <a:rPr lang="en-US" sz="1200" b="1" dirty="0"/>
              <a:t>Enhanced File Management</a:t>
            </a:r>
            <a:endParaRPr lang="en-US" sz="1200" dirty="0"/>
          </a:p>
          <a:p>
            <a:pPr lvl="1"/>
            <a:r>
              <a:rPr lang="en-US" sz="1200" b="1" dirty="0"/>
              <a:t>Multi-format Support</a:t>
            </a:r>
            <a:r>
              <a:rPr lang="en-US" sz="1200" dirty="0"/>
              <a:t>: PDF, DOCX, TXT, XLSX, CSV, JSON</a:t>
            </a:r>
          </a:p>
          <a:p>
            <a:pPr lvl="1"/>
            <a:r>
              <a:rPr lang="en-US" sz="1200" b="1" dirty="0"/>
              <a:t>Optimized Parsing</a:t>
            </a:r>
            <a:r>
              <a:rPr lang="en-US" sz="1200" dirty="0"/>
              <a:t>: Convert all formats to text for maximum token efficiency</a:t>
            </a:r>
          </a:p>
          <a:p>
            <a:pPr lvl="1"/>
            <a:r>
              <a:rPr lang="en-US" sz="1200" b="1" dirty="0"/>
              <a:t>Image-based PDF Extraction</a:t>
            </a:r>
            <a:r>
              <a:rPr lang="en-US" sz="1200" dirty="0"/>
              <a:t>: Gemini 2.5 Pro with parallel processing for speed</a:t>
            </a:r>
          </a:p>
          <a:p>
            <a:pPr lvl="1"/>
            <a:r>
              <a:rPr lang="en-US" sz="1200" b="1" dirty="0"/>
              <a:t>Greater Capacity</a:t>
            </a:r>
            <a:r>
              <a:rPr lang="en-US" sz="1200" dirty="0"/>
              <a:t>: Handle more files than </a:t>
            </a:r>
            <a:r>
              <a:rPr lang="en-US" sz="1200" dirty="0" err="1"/>
              <a:t>VertexAI</a:t>
            </a:r>
            <a:r>
              <a:rPr lang="en-US" sz="1200" dirty="0"/>
              <a:t> baseline</a:t>
            </a:r>
          </a:p>
          <a:p>
            <a:r>
              <a:rPr lang="en-US" sz="1200" b="1" dirty="0"/>
              <a:t> User Control &amp; Integration</a:t>
            </a:r>
            <a:endParaRPr lang="en-US" sz="1200" dirty="0"/>
          </a:p>
          <a:p>
            <a:pPr lvl="1"/>
            <a:r>
              <a:rPr lang="en-US" sz="1200" b="1" dirty="0"/>
              <a:t>Hyperparameter Toggles</a:t>
            </a:r>
            <a:r>
              <a:rPr lang="en-US" sz="1200" dirty="0"/>
              <a:t>: Seed, Temperature, Top-p for fine-tuned outputs</a:t>
            </a:r>
          </a:p>
          <a:p>
            <a:pPr lvl="1"/>
            <a:r>
              <a:rPr lang="en-US" sz="1200" b="1" dirty="0"/>
              <a:t>Email Integration</a:t>
            </a:r>
            <a:r>
              <a:rPr lang="en-US" sz="1200" dirty="0"/>
              <a:t>: Direct result delivery to recipients</a:t>
            </a:r>
          </a:p>
          <a:p>
            <a:pPr lvl="1"/>
            <a:r>
              <a:rPr lang="en-US" sz="1200" b="1" dirty="0"/>
              <a:t>Cloud Persistence</a:t>
            </a:r>
            <a:r>
              <a:rPr lang="en-US" sz="1200" dirty="0"/>
              <a:t>: GCS bucket storage with user-specific folders (prompts, models, results)</a:t>
            </a:r>
          </a:p>
          <a:p>
            <a:r>
              <a:rPr lang="en-US" sz="1200" b="1" dirty="0"/>
              <a:t>Agentic Features</a:t>
            </a:r>
            <a:endParaRPr lang="en-US" sz="1200" dirty="0"/>
          </a:p>
          <a:p>
            <a:pPr lvl="1"/>
            <a:r>
              <a:rPr lang="en-US" sz="1200" b="1" dirty="0"/>
              <a:t>Improve Prompts</a:t>
            </a:r>
            <a:r>
              <a:rPr lang="en-US" sz="1200" dirty="0"/>
              <a:t>: Auto-tune existing prompts for better results</a:t>
            </a:r>
          </a:p>
          <a:p>
            <a:pPr lvl="1"/>
            <a:r>
              <a:rPr lang="en-US" sz="1200" b="1" dirty="0"/>
              <a:t>LLM Evaluations</a:t>
            </a:r>
            <a:r>
              <a:rPr lang="en-US" sz="1200" dirty="0"/>
              <a:t>: Test prompts across multiple models with automated scoring</a:t>
            </a:r>
          </a:p>
          <a:p>
            <a:pPr lvl="1"/>
            <a:r>
              <a:rPr lang="en-US" sz="1200" b="1" dirty="0"/>
              <a:t>Prompt Transformation</a:t>
            </a:r>
            <a:r>
              <a:rPr lang="en-US" sz="1200" dirty="0"/>
              <a:t>: Convert prompts between LLMs using iterative refinement</a:t>
            </a:r>
          </a:p>
          <a:p>
            <a:pPr marL="182880" lvl="1" indent="0">
              <a:buNone/>
            </a:pPr>
            <a:endParaRPr lang="en-US" sz="1200" b="1" dirty="0"/>
          </a:p>
          <a:p>
            <a:pPr marL="182880" lvl="1" indent="0">
              <a:buNone/>
            </a:pPr>
            <a:r>
              <a:rPr lang="en-US" sz="1200" b="1" dirty="0"/>
              <a:t>Impact: </a:t>
            </a:r>
            <a:r>
              <a:rPr lang="en-US" sz="1200" dirty="0"/>
              <a:t>Complete end-to-end GenAI workflow from file upload to result delivery</a:t>
            </a:r>
            <a:endParaRPr lang="en-US" sz="1000" dirty="0"/>
          </a:p>
        </p:txBody>
      </p:sp>
    </p:spTree>
    <p:extLst>
      <p:ext uri="{BB962C8B-B14F-4D97-AF65-F5344CB8AC3E}">
        <p14:creationId xmlns:p14="http://schemas.microsoft.com/office/powerpoint/2010/main" val="2984899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A05E-85FF-294F-82AE-CF23C8E0BC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71D2D-7161-4B5D-CA91-8CE2CD74BBDE}"/>
              </a:ext>
            </a:extLst>
          </p:cNvPr>
          <p:cNvSpPr>
            <a:spLocks noGrp="1"/>
          </p:cNvSpPr>
          <p:nvPr>
            <p:ph type="title"/>
          </p:nvPr>
        </p:nvSpPr>
        <p:spPr/>
        <p:txBody>
          <a:bodyPr/>
          <a:lstStyle/>
          <a:p>
            <a:r>
              <a:rPr lang="en-US" dirty="0" err="1"/>
              <a:t>MIAdmin</a:t>
            </a:r>
            <a:r>
              <a:rPr lang="en-US" dirty="0"/>
              <a:t>/</a:t>
            </a:r>
            <a:r>
              <a:rPr lang="en-US" dirty="0" err="1"/>
              <a:t>NimiApp</a:t>
            </a:r>
            <a:r>
              <a:rPr lang="en-US" dirty="0"/>
              <a:t> - Infrastructure &amp; Feature Development</a:t>
            </a:r>
          </a:p>
        </p:txBody>
      </p:sp>
      <p:sp>
        <p:nvSpPr>
          <p:cNvPr id="3" name="Content Placeholder 2">
            <a:extLst>
              <a:ext uri="{FF2B5EF4-FFF2-40B4-BE49-F238E27FC236}">
                <a16:creationId xmlns:a16="http://schemas.microsoft.com/office/drawing/2014/main" id="{9428D467-84D5-D755-6F88-9F44684D7FFE}"/>
              </a:ext>
            </a:extLst>
          </p:cNvPr>
          <p:cNvSpPr>
            <a:spLocks noGrp="1"/>
          </p:cNvSpPr>
          <p:nvPr>
            <p:ph idx="1"/>
          </p:nvPr>
        </p:nvSpPr>
        <p:spPr>
          <a:xfrm>
            <a:off x="484630" y="1148642"/>
            <a:ext cx="11219688" cy="4709160"/>
          </a:xfrm>
        </p:spPr>
        <p:txBody>
          <a:bodyPr/>
          <a:lstStyle/>
          <a:p>
            <a:r>
              <a:rPr lang="en-US" sz="1200" b="1" dirty="0"/>
              <a:t>URGENT (Completed) - Microsoft Authentication Crisis</a:t>
            </a:r>
            <a:endParaRPr lang="en-US" sz="1200" dirty="0"/>
          </a:p>
          <a:p>
            <a:pPr lvl="1"/>
            <a:r>
              <a:rPr lang="en-US" sz="1200" dirty="0"/>
              <a:t>Microsoft deprecated OAuth → immediate migration required</a:t>
            </a:r>
          </a:p>
          <a:p>
            <a:pPr lvl="1"/>
            <a:r>
              <a:rPr lang="en-US" sz="1200" dirty="0"/>
              <a:t>Implemented Graph API with Secret Manager</a:t>
            </a:r>
          </a:p>
          <a:p>
            <a:pPr lvl="1"/>
            <a:r>
              <a:rPr lang="en-US" sz="1200" dirty="0"/>
              <a:t>Zero downtime transition</a:t>
            </a:r>
          </a:p>
          <a:p>
            <a:r>
              <a:rPr lang="en-US" sz="1200" b="1" dirty="0"/>
              <a:t>HIGH PRIORITY (Completed) - Data Quality &amp; Flexibility</a:t>
            </a:r>
            <a:endParaRPr lang="en-US" sz="1200" dirty="0"/>
          </a:p>
          <a:p>
            <a:pPr lvl="1"/>
            <a:r>
              <a:rPr lang="en-US" sz="1200" dirty="0"/>
              <a:t>Resolved missing transcript errors (FactSet event types)</a:t>
            </a:r>
          </a:p>
          <a:p>
            <a:pPr lvl="1"/>
            <a:r>
              <a:rPr lang="en-US" sz="1200" dirty="0"/>
              <a:t>Enhanced lookback period flexibility for multi-timeframe companies</a:t>
            </a:r>
          </a:p>
          <a:p>
            <a:pPr lvl="1"/>
            <a:r>
              <a:rPr lang="en-US" sz="1200" dirty="0"/>
              <a:t>Built earnings scheduling feature (FactSet API integration)</a:t>
            </a:r>
          </a:p>
          <a:p>
            <a:r>
              <a:rPr lang="en-US" sz="1200" b="1" dirty="0"/>
              <a:t>STRATEGIC (In Progress) - Dependency Reduction Initiative</a:t>
            </a:r>
            <a:endParaRPr lang="en-US" sz="1200" dirty="0"/>
          </a:p>
          <a:p>
            <a:pPr lvl="1"/>
            <a:r>
              <a:rPr lang="en-US" sz="1200" dirty="0"/>
              <a:t>Eliminating hardcoded company variables</a:t>
            </a:r>
          </a:p>
          <a:p>
            <a:pPr lvl="1"/>
            <a:r>
              <a:rPr lang="en-US" sz="1200" dirty="0"/>
              <a:t>SharePoint Excel sheet + automated data pulls</a:t>
            </a:r>
          </a:p>
          <a:p>
            <a:pPr lvl="1"/>
            <a:r>
              <a:rPr lang="en-US" sz="1200" dirty="0"/>
              <a:t>Transferring full control to Product Owners</a:t>
            </a:r>
          </a:p>
          <a:p>
            <a:pPr lvl="1"/>
            <a:r>
              <a:rPr lang="en-US" sz="1200" b="1" dirty="0"/>
              <a:t>Goal</a:t>
            </a:r>
            <a:r>
              <a:rPr lang="en-US" sz="1200" dirty="0"/>
              <a:t>: Reduce Data Science team maintenance burden</a:t>
            </a:r>
          </a:p>
          <a:p>
            <a:r>
              <a:rPr lang="en-US" sz="1200" b="1" dirty="0"/>
              <a:t>INFRASTRUCTURE (Ongoing) -</a:t>
            </a:r>
            <a:r>
              <a:rPr lang="en-US" sz="1200" dirty="0"/>
              <a:t> </a:t>
            </a:r>
            <a:r>
              <a:rPr lang="en-US" sz="1200" b="1" dirty="0"/>
              <a:t>Modernization</a:t>
            </a:r>
            <a:endParaRPr lang="en-US" sz="1200" dirty="0"/>
          </a:p>
          <a:p>
            <a:pPr lvl="1"/>
            <a:r>
              <a:rPr lang="en-US" sz="1200" dirty="0" err="1"/>
              <a:t>NimiApp</a:t>
            </a:r>
            <a:r>
              <a:rPr lang="en-US" sz="1200" dirty="0"/>
              <a:t> dev environment restoration</a:t>
            </a:r>
          </a:p>
          <a:p>
            <a:pPr lvl="1"/>
            <a:r>
              <a:rPr lang="en-US" sz="1200" dirty="0"/>
              <a:t>Multi </a:t>
            </a:r>
            <a:r>
              <a:rPr lang="en-US" sz="1200" dirty="0" err="1"/>
              <a:t>Streamlit</a:t>
            </a:r>
            <a:r>
              <a:rPr lang="en-US" sz="1200" dirty="0"/>
              <a:t> → SMAPI template migration</a:t>
            </a:r>
          </a:p>
          <a:p>
            <a:pPr lvl="1"/>
            <a:r>
              <a:rPr lang="en-US" sz="1200" dirty="0"/>
              <a:t>Prompt management testing with Google team</a:t>
            </a:r>
            <a:br>
              <a:rPr lang="en-US" sz="1200" dirty="0"/>
            </a:br>
            <a:endParaRPr lang="en-US" sz="1200" dirty="0"/>
          </a:p>
        </p:txBody>
      </p:sp>
    </p:spTree>
    <p:extLst>
      <p:ext uri="{BB962C8B-B14F-4D97-AF65-F5344CB8AC3E}">
        <p14:creationId xmlns:p14="http://schemas.microsoft.com/office/powerpoint/2010/main" val="405112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95CF-D82D-21E1-1546-E045271AD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1605B-2898-9D5F-8117-67ED73E873A9}"/>
              </a:ext>
            </a:extLst>
          </p:cNvPr>
          <p:cNvSpPr>
            <a:spLocks noGrp="1"/>
          </p:cNvSpPr>
          <p:nvPr>
            <p:ph type="title"/>
          </p:nvPr>
        </p:nvSpPr>
        <p:spPr/>
        <p:txBody>
          <a:bodyPr/>
          <a:lstStyle/>
          <a:p>
            <a:r>
              <a:rPr lang="en-US" dirty="0"/>
              <a:t>Attrition Model Headcount - Forecasting Enhancement</a:t>
            </a:r>
          </a:p>
        </p:txBody>
      </p:sp>
      <p:sp>
        <p:nvSpPr>
          <p:cNvPr id="3" name="Content Placeholder 2">
            <a:extLst>
              <a:ext uri="{FF2B5EF4-FFF2-40B4-BE49-F238E27FC236}">
                <a16:creationId xmlns:a16="http://schemas.microsoft.com/office/drawing/2014/main" id="{F8D0BFD0-60CD-37E6-076A-40A2F8C7FA10}"/>
              </a:ext>
            </a:extLst>
          </p:cNvPr>
          <p:cNvSpPr>
            <a:spLocks noGrp="1"/>
          </p:cNvSpPr>
          <p:nvPr>
            <p:ph idx="1"/>
          </p:nvPr>
        </p:nvSpPr>
        <p:spPr>
          <a:xfrm>
            <a:off x="484630" y="1148642"/>
            <a:ext cx="11219688" cy="4709160"/>
          </a:xfrm>
        </p:spPr>
        <p:txBody>
          <a:bodyPr/>
          <a:lstStyle/>
          <a:p>
            <a:pPr marL="0" indent="0">
              <a:buNone/>
            </a:pPr>
            <a:r>
              <a:rPr lang="en-US" sz="1200" b="1" dirty="0"/>
              <a:t>Attrition Model: Enhanced Forecasting for Workforce Planning</a:t>
            </a:r>
          </a:p>
          <a:p>
            <a:r>
              <a:rPr lang="en-US" sz="1200" b="1" dirty="0"/>
              <a:t>Objective: </a:t>
            </a:r>
            <a:r>
              <a:rPr lang="en-US" sz="1200" dirty="0"/>
              <a:t>Improve attrition prediction accuracy to support next-year headcount planning for David and </a:t>
            </a:r>
            <a:r>
              <a:rPr lang="en-US" sz="1200" dirty="0" err="1"/>
              <a:t>Bahrath</a:t>
            </a:r>
            <a:endParaRPr lang="en-US" sz="1200" dirty="0"/>
          </a:p>
          <a:p>
            <a:r>
              <a:rPr lang="en-US" sz="1200" b="1" dirty="0"/>
              <a:t>Approach</a:t>
            </a:r>
            <a:endParaRPr lang="en-US" sz="1200" dirty="0"/>
          </a:p>
          <a:p>
            <a:pPr lvl="1"/>
            <a:r>
              <a:rPr lang="en-US" sz="1200" b="1" dirty="0"/>
              <a:t>Current Baseline</a:t>
            </a:r>
            <a:r>
              <a:rPr lang="en-US" sz="1200" dirty="0"/>
              <a:t>: Simple averaging model</a:t>
            </a:r>
          </a:p>
          <a:p>
            <a:pPr lvl="1"/>
            <a:r>
              <a:rPr lang="en-US" sz="1200" b="1" dirty="0"/>
              <a:t>Alternatives Explored</a:t>
            </a:r>
            <a:r>
              <a:rPr lang="en-US" sz="1200" dirty="0"/>
              <a:t>: </a:t>
            </a:r>
            <a:r>
              <a:rPr lang="en-US" sz="1200" dirty="0" err="1"/>
              <a:t>XGBoost</a:t>
            </a:r>
            <a:r>
              <a:rPr lang="en-US" sz="1200" dirty="0"/>
              <a:t> and ARIMA models</a:t>
            </a:r>
          </a:p>
          <a:p>
            <a:pPr lvl="1"/>
            <a:r>
              <a:rPr lang="en-US" sz="1200" b="1" dirty="0"/>
              <a:t>Methodology</a:t>
            </a:r>
            <a:r>
              <a:rPr lang="en-US" sz="1200" dirty="0"/>
              <a:t>: Comparative analysis of model performance on historical data</a:t>
            </a:r>
          </a:p>
          <a:p>
            <a:r>
              <a:rPr lang="en-US" sz="1200" b="1" dirty="0"/>
              <a:t>Results</a:t>
            </a:r>
            <a:endParaRPr lang="en-US" sz="1200" dirty="0"/>
          </a:p>
          <a:p>
            <a:pPr lvl="1"/>
            <a:r>
              <a:rPr lang="en-US" sz="1200" dirty="0"/>
              <a:t>Delivered improved prediction accuracy for next-year attrition forecasts</a:t>
            </a:r>
          </a:p>
          <a:p>
            <a:pPr lvl="1"/>
            <a:r>
              <a:rPr lang="en-US" sz="1200" dirty="0"/>
              <a:t>Provided model comparison insights to stakeholder</a:t>
            </a:r>
          </a:p>
        </p:txBody>
      </p:sp>
    </p:spTree>
    <p:extLst>
      <p:ext uri="{BB962C8B-B14F-4D97-AF65-F5344CB8AC3E}">
        <p14:creationId xmlns:p14="http://schemas.microsoft.com/office/powerpoint/2010/main" val="2760600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E5F8-3017-C958-DB9F-A4CA133F6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2267F-7805-CC90-5192-AAD1C1657059}"/>
              </a:ext>
            </a:extLst>
          </p:cNvPr>
          <p:cNvSpPr>
            <a:spLocks noGrp="1"/>
          </p:cNvSpPr>
          <p:nvPr>
            <p:ph type="title"/>
          </p:nvPr>
        </p:nvSpPr>
        <p:spPr/>
        <p:txBody>
          <a:bodyPr/>
          <a:lstStyle/>
          <a:p>
            <a:r>
              <a:rPr lang="en-US" dirty="0"/>
              <a:t>LLM Evaluation &amp; Statistical DOE</a:t>
            </a:r>
          </a:p>
        </p:txBody>
      </p:sp>
      <p:sp>
        <p:nvSpPr>
          <p:cNvPr id="3" name="Content Placeholder 2">
            <a:extLst>
              <a:ext uri="{FF2B5EF4-FFF2-40B4-BE49-F238E27FC236}">
                <a16:creationId xmlns:a16="http://schemas.microsoft.com/office/drawing/2014/main" id="{F4526924-994D-F2DA-29B6-16EB5265D85E}"/>
              </a:ext>
            </a:extLst>
          </p:cNvPr>
          <p:cNvSpPr>
            <a:spLocks noGrp="1"/>
          </p:cNvSpPr>
          <p:nvPr>
            <p:ph idx="1"/>
          </p:nvPr>
        </p:nvSpPr>
        <p:spPr>
          <a:xfrm>
            <a:off x="484630" y="1148641"/>
            <a:ext cx="11219688" cy="5466167"/>
          </a:xfrm>
        </p:spPr>
        <p:txBody>
          <a:bodyPr/>
          <a:lstStyle/>
          <a:p>
            <a:pPr marL="0" indent="0">
              <a:buNone/>
            </a:pPr>
            <a:r>
              <a:rPr lang="en-US" sz="1200" b="1" dirty="0"/>
              <a:t>Research Scope: </a:t>
            </a:r>
            <a:r>
              <a:rPr lang="en-US" sz="1200" dirty="0"/>
              <a:t>Conducted comprehensive evaluation and statistical analysis of LLM performance across models and configurations</a:t>
            </a:r>
          </a:p>
          <a:p>
            <a:pPr marL="0" indent="0">
              <a:buNone/>
            </a:pPr>
            <a:r>
              <a:rPr lang="en-US" sz="1200" b="1" dirty="0"/>
              <a:t>Design of Experiments (DOE) Studies</a:t>
            </a:r>
            <a:endParaRPr lang="en-US" sz="1200" dirty="0"/>
          </a:p>
          <a:p>
            <a:r>
              <a:rPr lang="en-US" sz="1200" b="1" dirty="0"/>
              <a:t>Seed Effect Analysis</a:t>
            </a:r>
            <a:r>
              <a:rPr lang="en-US" sz="1200" dirty="0"/>
              <a:t> </a:t>
            </a:r>
          </a:p>
          <a:p>
            <a:pPr lvl="1"/>
            <a:r>
              <a:rPr lang="en-US" sz="1200" dirty="0"/>
              <a:t>Tested fixed vs. random seed settings on Gemini 2.5 Pro and GPT-5</a:t>
            </a:r>
          </a:p>
          <a:p>
            <a:pPr lvl="1"/>
            <a:r>
              <a:rPr lang="en-US" sz="1200" dirty="0"/>
              <a:t>Evaluated output consistency for identical prompts and inputs</a:t>
            </a:r>
          </a:p>
          <a:p>
            <a:pPr lvl="1"/>
            <a:r>
              <a:rPr lang="en-US" sz="1200" b="1" dirty="0"/>
              <a:t>Finding</a:t>
            </a:r>
            <a:r>
              <a:rPr lang="en-US" sz="1200" dirty="0"/>
              <a:t>: Quantified reproducibility impact</a:t>
            </a:r>
          </a:p>
          <a:p>
            <a:r>
              <a:rPr lang="en-US" sz="1200" b="1" dirty="0"/>
              <a:t>Hyperparameter Impact Study</a:t>
            </a:r>
            <a:r>
              <a:rPr lang="en-US" sz="1200" dirty="0"/>
              <a:t> </a:t>
            </a:r>
            <a:r>
              <a:rPr lang="en-US" sz="1200" i="1" dirty="0"/>
              <a:t>(180+ experimental runs)</a:t>
            </a:r>
            <a:endParaRPr lang="en-US" sz="1200" dirty="0"/>
          </a:p>
          <a:p>
            <a:pPr lvl="1"/>
            <a:r>
              <a:rPr lang="en-US" sz="1200" b="1" dirty="0"/>
              <a:t>Gemini 2.5 Pro</a:t>
            </a:r>
            <a:r>
              <a:rPr lang="en-US" sz="1200" dirty="0"/>
              <a:t>: Temperature, Top-p, Top-k, Thinking effort</a:t>
            </a:r>
          </a:p>
          <a:p>
            <a:pPr lvl="1"/>
            <a:r>
              <a:rPr lang="en-US" sz="1200" b="1" dirty="0"/>
              <a:t>GPT-5</a:t>
            </a:r>
            <a:r>
              <a:rPr lang="en-US" sz="1200" dirty="0"/>
              <a:t>: Reasoning and Verbosity parameters</a:t>
            </a:r>
          </a:p>
          <a:p>
            <a:pPr lvl="1"/>
            <a:r>
              <a:rPr lang="en-US" sz="1200" b="1" dirty="0"/>
              <a:t>Analysis</a:t>
            </a:r>
            <a:r>
              <a:rPr lang="en-US" sz="1200" dirty="0"/>
              <a:t>: JMP variability charts showing parameter importance</a:t>
            </a:r>
          </a:p>
          <a:p>
            <a:pPr lvl="1"/>
            <a:r>
              <a:rPr lang="en-US" sz="1200" b="1" dirty="0"/>
              <a:t>Outcome</a:t>
            </a:r>
            <a:r>
              <a:rPr lang="en-US" sz="1200" dirty="0"/>
              <a:t>: Predictive models to optimize hyperparameter selection for desired results</a:t>
            </a:r>
          </a:p>
          <a:p>
            <a:pPr marL="0" indent="0">
              <a:buNone/>
            </a:pPr>
            <a:r>
              <a:rPr lang="en-US" sz="1200" b="1" dirty="0"/>
              <a:t>Evaluation Framework Projects</a:t>
            </a:r>
            <a:endParaRPr lang="en-US" sz="1200" dirty="0"/>
          </a:p>
          <a:p>
            <a:r>
              <a:rPr lang="en-US" sz="1200" b="1" dirty="0"/>
              <a:t>Module Evaluation</a:t>
            </a:r>
            <a:endParaRPr lang="en-US" sz="1200" dirty="0"/>
          </a:p>
          <a:p>
            <a:pPr lvl="1"/>
            <a:r>
              <a:rPr lang="en-US" sz="1200" dirty="0"/>
              <a:t>Performed LLM evaluation on Sreekar's Module for </a:t>
            </a:r>
            <a:r>
              <a:rPr lang="en-US" sz="1200" dirty="0" err="1"/>
              <a:t>NimiApp</a:t>
            </a:r>
            <a:r>
              <a:rPr lang="en-US" sz="1200" dirty="0"/>
              <a:t> companies</a:t>
            </a:r>
          </a:p>
          <a:p>
            <a:pPr lvl="1"/>
            <a:r>
              <a:rPr lang="en-US" sz="1200" dirty="0"/>
              <a:t>Compared Gemini vs. GPT across multiple metrics</a:t>
            </a:r>
          </a:p>
          <a:p>
            <a:r>
              <a:rPr lang="en-US" sz="1200" b="1" dirty="0"/>
              <a:t>Framework Testing</a:t>
            </a:r>
            <a:endParaRPr lang="en-US" sz="1200" dirty="0"/>
          </a:p>
          <a:p>
            <a:pPr lvl="1"/>
            <a:r>
              <a:rPr lang="en-US" sz="1200" dirty="0"/>
              <a:t>Tested Brandon &amp; Justin's Evaluation Framework template with </a:t>
            </a:r>
            <a:r>
              <a:rPr lang="en-US" sz="1200" dirty="0" err="1"/>
              <a:t>NimiApp</a:t>
            </a:r>
            <a:r>
              <a:rPr lang="en-US" sz="1200" dirty="0"/>
              <a:t> results</a:t>
            </a:r>
          </a:p>
          <a:p>
            <a:pPr lvl="1"/>
            <a:r>
              <a:rPr lang="en-US" sz="1200" b="1" dirty="0"/>
              <a:t>Next</a:t>
            </a:r>
            <a:r>
              <a:rPr lang="en-US" sz="1200" dirty="0"/>
              <a:t>: Integration of Brandon's </a:t>
            </a:r>
            <a:r>
              <a:rPr lang="en-US" sz="1200" dirty="0" err="1"/>
              <a:t>mypy</a:t>
            </a:r>
            <a:r>
              <a:rPr lang="en-US" sz="1200" dirty="0"/>
              <a:t> package with SMAPI template</a:t>
            </a:r>
          </a:p>
        </p:txBody>
      </p:sp>
    </p:spTree>
    <p:extLst>
      <p:ext uri="{BB962C8B-B14F-4D97-AF65-F5344CB8AC3E}">
        <p14:creationId xmlns:p14="http://schemas.microsoft.com/office/powerpoint/2010/main" val="349825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C8CEC-E4FE-DCC0-821F-44077B7A1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7FA83-351A-4DFF-4DBB-11A7D3ADF41A}"/>
              </a:ext>
            </a:extLst>
          </p:cNvPr>
          <p:cNvSpPr>
            <a:spLocks noGrp="1"/>
          </p:cNvSpPr>
          <p:nvPr>
            <p:ph type="title"/>
          </p:nvPr>
        </p:nvSpPr>
        <p:spPr/>
        <p:txBody>
          <a:bodyPr/>
          <a:lstStyle/>
          <a:p>
            <a:r>
              <a:rPr lang="en-US" dirty="0"/>
              <a:t>Account Receivable GenAI Summary</a:t>
            </a:r>
          </a:p>
        </p:txBody>
      </p:sp>
      <p:sp>
        <p:nvSpPr>
          <p:cNvPr id="3" name="Content Placeholder 2">
            <a:extLst>
              <a:ext uri="{FF2B5EF4-FFF2-40B4-BE49-F238E27FC236}">
                <a16:creationId xmlns:a16="http://schemas.microsoft.com/office/drawing/2014/main" id="{33E973DC-A2C6-49E2-91C1-8EB17CD23D3C}"/>
              </a:ext>
            </a:extLst>
          </p:cNvPr>
          <p:cNvSpPr>
            <a:spLocks noGrp="1"/>
          </p:cNvSpPr>
          <p:nvPr>
            <p:ph idx="1"/>
          </p:nvPr>
        </p:nvSpPr>
        <p:spPr>
          <a:xfrm>
            <a:off x="484630" y="1148641"/>
            <a:ext cx="11219688" cy="5466167"/>
          </a:xfrm>
        </p:spPr>
        <p:txBody>
          <a:bodyPr/>
          <a:lstStyle/>
          <a:p>
            <a:r>
              <a:rPr lang="en-US" sz="1200" b="1" dirty="0"/>
              <a:t>Project Goal</a:t>
            </a:r>
            <a:r>
              <a:rPr lang="en-US" sz="1200" dirty="0"/>
              <a:t>: Automate executive summary generation for AR forecasts</a:t>
            </a:r>
          </a:p>
          <a:p>
            <a:r>
              <a:rPr lang="en-US" sz="1200" b="1" dirty="0"/>
              <a:t>🔬 Research Phase</a:t>
            </a:r>
            <a:endParaRPr lang="en-US" sz="1200" dirty="0"/>
          </a:p>
          <a:p>
            <a:pPr lvl="1"/>
            <a:r>
              <a:rPr lang="en-US" sz="1200" dirty="0"/>
              <a:t>Investigated available cash collection data sources</a:t>
            </a:r>
          </a:p>
          <a:p>
            <a:pPr lvl="1"/>
            <a:r>
              <a:rPr lang="en-US" sz="1200" dirty="0"/>
              <a:t>Determined organizational level requirements (overall, supervisor, analyst)</a:t>
            </a:r>
          </a:p>
          <a:p>
            <a:r>
              <a:rPr lang="en-US" sz="1200" b="1" dirty="0"/>
              <a:t>🏗️ SQL Architecture with CTEs</a:t>
            </a:r>
            <a:endParaRPr lang="en-US" sz="1200" dirty="0"/>
          </a:p>
          <a:p>
            <a:pPr lvl="1"/>
            <a:r>
              <a:rPr lang="en-US" sz="1200" b="1" dirty="0"/>
              <a:t>Why CTEs</a:t>
            </a:r>
            <a:r>
              <a:rPr lang="en-US" sz="1200" dirty="0"/>
              <a:t>: Modular design, readable queries, efficient execution</a:t>
            </a:r>
          </a:p>
          <a:p>
            <a:pPr lvl="1"/>
            <a:r>
              <a:rPr lang="en-US" sz="1200" b="1" dirty="0"/>
              <a:t>What I Built</a:t>
            </a:r>
            <a:r>
              <a:rPr lang="en-US" sz="1200" dirty="0"/>
              <a:t>:</a:t>
            </a:r>
          </a:p>
          <a:p>
            <a:pPr lvl="2"/>
            <a:r>
              <a:rPr lang="en-US" sz="1200" dirty="0"/>
              <a:t>Variance driver extraction logic</a:t>
            </a:r>
          </a:p>
          <a:p>
            <a:pPr lvl="2"/>
            <a:r>
              <a:rPr lang="en-US" sz="1200" dirty="0"/>
              <a:t>Statistical breakdown calculations</a:t>
            </a:r>
          </a:p>
          <a:p>
            <a:pPr lvl="2"/>
            <a:r>
              <a:rPr lang="en-US" sz="1200" dirty="0"/>
              <a:t>Payer-level aggregations</a:t>
            </a:r>
          </a:p>
          <a:p>
            <a:pPr lvl="2"/>
            <a:r>
              <a:rPr lang="en-US" sz="1200" dirty="0"/>
              <a:t>Document-level detail capture</a:t>
            </a:r>
          </a:p>
          <a:p>
            <a:r>
              <a:rPr lang="en-US" sz="1200" b="1" dirty="0"/>
              <a:t>Key Innovation</a:t>
            </a:r>
            <a:r>
              <a:rPr lang="en-US" sz="1200" dirty="0"/>
              <a:t>: Structured CTE outputs to optimize LLM token usage and interpretation</a:t>
            </a:r>
          </a:p>
          <a:p>
            <a:r>
              <a:rPr lang="en-US" sz="1200" b="1" dirty="0"/>
              <a:t>Prompt Engineering</a:t>
            </a:r>
            <a:endParaRPr lang="en-US" sz="1200" dirty="0"/>
          </a:p>
          <a:p>
            <a:pPr lvl="1"/>
            <a:r>
              <a:rPr lang="en-US" sz="1200" dirty="0"/>
              <a:t>Developed prompt templates for each summary category</a:t>
            </a:r>
          </a:p>
          <a:p>
            <a:pPr lvl="1"/>
            <a:r>
              <a:rPr lang="en-US" sz="1200" dirty="0"/>
              <a:t>Iterative refinement cycle:</a:t>
            </a:r>
          </a:p>
          <a:p>
            <a:pPr lvl="2"/>
            <a:r>
              <a:rPr lang="en-US" sz="1200" dirty="0"/>
              <a:t>Initial prompt → LLM output → Quality assessment → Prompt adjustment → Repeat</a:t>
            </a:r>
          </a:p>
          <a:p>
            <a:r>
              <a:rPr lang="en-US" sz="1200" b="1" dirty="0"/>
              <a:t>⚙️ Semi-Automated Pipeline</a:t>
            </a:r>
            <a:endParaRPr lang="en-US" sz="1200" dirty="0"/>
          </a:p>
          <a:p>
            <a:r>
              <a:rPr lang="en-US" sz="1200" dirty="0"/>
              <a:t>Integrated components: CTE execution → LLM processing → User delivery</a:t>
            </a:r>
          </a:p>
          <a:p>
            <a:r>
              <a:rPr lang="en-US" sz="1200" b="1" dirty="0"/>
              <a:t>Result</a:t>
            </a:r>
            <a:r>
              <a:rPr lang="en-US" sz="1200" dirty="0"/>
              <a:t>: End-to-end automated solution delivering quality executive narratives</a:t>
            </a:r>
          </a:p>
        </p:txBody>
      </p:sp>
    </p:spTree>
    <p:extLst>
      <p:ext uri="{BB962C8B-B14F-4D97-AF65-F5344CB8AC3E}">
        <p14:creationId xmlns:p14="http://schemas.microsoft.com/office/powerpoint/2010/main" val="4833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A18E-2A2D-030F-9FC7-6CC69A7F2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D5535-AA4A-40E7-4193-E6E53424D20B}"/>
              </a:ext>
            </a:extLst>
          </p:cNvPr>
          <p:cNvSpPr>
            <a:spLocks noGrp="1"/>
          </p:cNvSpPr>
          <p:nvPr>
            <p:ph type="title"/>
          </p:nvPr>
        </p:nvSpPr>
        <p:spPr/>
        <p:txBody>
          <a:bodyPr/>
          <a:lstStyle/>
          <a:p>
            <a:r>
              <a:rPr lang="en-US" dirty="0"/>
              <a:t>Key Achievements Summary</a:t>
            </a:r>
          </a:p>
        </p:txBody>
      </p:sp>
      <p:sp>
        <p:nvSpPr>
          <p:cNvPr id="3" name="Content Placeholder 2">
            <a:extLst>
              <a:ext uri="{FF2B5EF4-FFF2-40B4-BE49-F238E27FC236}">
                <a16:creationId xmlns:a16="http://schemas.microsoft.com/office/drawing/2014/main" id="{5E091104-2625-AB93-E0F7-92D152613211}"/>
              </a:ext>
            </a:extLst>
          </p:cNvPr>
          <p:cNvSpPr>
            <a:spLocks noGrp="1"/>
          </p:cNvSpPr>
          <p:nvPr>
            <p:ph idx="1"/>
          </p:nvPr>
        </p:nvSpPr>
        <p:spPr>
          <a:xfrm>
            <a:off x="484630" y="1148641"/>
            <a:ext cx="11219688" cy="5466167"/>
          </a:xfrm>
        </p:spPr>
        <p:txBody>
          <a:bodyPr/>
          <a:lstStyle/>
          <a:p>
            <a:r>
              <a:rPr lang="en-US" sz="1200" b="1" dirty="0"/>
              <a:t>Projects Delivered</a:t>
            </a:r>
            <a:endParaRPr lang="en-US" sz="1200" dirty="0"/>
          </a:p>
          <a:p>
            <a:pPr lvl="1"/>
            <a:r>
              <a:rPr lang="en-US" sz="1200" b="1" dirty="0"/>
              <a:t>5 Major Initiatives</a:t>
            </a:r>
            <a:r>
              <a:rPr lang="en-US" sz="1200" dirty="0"/>
              <a:t>: Prompt Wizard | </a:t>
            </a:r>
            <a:r>
              <a:rPr lang="en-US" sz="1200" dirty="0" err="1"/>
              <a:t>MIAdmin</a:t>
            </a:r>
            <a:r>
              <a:rPr lang="en-US" sz="1200" dirty="0"/>
              <a:t>/</a:t>
            </a:r>
            <a:r>
              <a:rPr lang="en-US" sz="1200" dirty="0" err="1"/>
              <a:t>NimiApp</a:t>
            </a:r>
            <a:r>
              <a:rPr lang="en-US" sz="1200" dirty="0"/>
              <a:t> | Attrition Forecasting | LLM Evaluation | AR GenAI</a:t>
            </a:r>
          </a:p>
          <a:p>
            <a:pPr lvl="1"/>
            <a:r>
              <a:rPr lang="en-US" sz="1200" b="1" dirty="0"/>
              <a:t>1 Research Area</a:t>
            </a:r>
            <a:r>
              <a:rPr lang="en-US" sz="1200" dirty="0"/>
              <a:t>: Snowflake Agents &amp; Cortex Analyst exploration</a:t>
            </a:r>
          </a:p>
          <a:p>
            <a:r>
              <a:rPr lang="en-US" sz="1200" b="1" dirty="0"/>
              <a:t>Technical Contributions</a:t>
            </a:r>
            <a:endParaRPr lang="en-US" sz="1200" dirty="0"/>
          </a:p>
          <a:p>
            <a:r>
              <a:rPr lang="en-US" sz="1200" b="1" dirty="0"/>
              <a:t>GenAI &amp; LLM Innovation</a:t>
            </a:r>
            <a:endParaRPr lang="en-US" sz="1200" dirty="0"/>
          </a:p>
          <a:p>
            <a:pPr lvl="1"/>
            <a:r>
              <a:rPr lang="en-US" sz="1200" dirty="0"/>
              <a:t>Engineered agentic features (prompt improvement, multi-LLM evaluation, cross-LLM transformation)</a:t>
            </a:r>
          </a:p>
          <a:p>
            <a:pPr lvl="1"/>
            <a:r>
              <a:rPr lang="en-US" sz="1200" dirty="0"/>
              <a:t>Conducted 180+ experimental runs analyzing hyperparameter impacts</a:t>
            </a:r>
          </a:p>
          <a:p>
            <a:pPr lvl="1"/>
            <a:r>
              <a:rPr lang="en-US" sz="1200" dirty="0"/>
              <a:t>Designed automated LLM evaluation framework</a:t>
            </a:r>
          </a:p>
          <a:p>
            <a:pPr lvl="1"/>
            <a:r>
              <a:rPr lang="en-US" sz="1200" dirty="0"/>
              <a:t>Built GenAI-powered executive summary pipeline</a:t>
            </a:r>
          </a:p>
          <a:p>
            <a:r>
              <a:rPr lang="en-US" sz="1200" b="1" dirty="0"/>
              <a:t>Infrastructure &amp; Security</a:t>
            </a:r>
            <a:endParaRPr lang="en-US" sz="1200" dirty="0"/>
          </a:p>
          <a:p>
            <a:pPr lvl="1"/>
            <a:r>
              <a:rPr lang="en-US" sz="1200" dirty="0"/>
              <a:t>Migrated critical authentication (OAuth → Graph API) on urgent deadline</a:t>
            </a:r>
          </a:p>
          <a:p>
            <a:pPr lvl="1"/>
            <a:r>
              <a:rPr lang="en-US" sz="1200" dirty="0"/>
              <a:t>Implemented Secret Manager for secure credential storage</a:t>
            </a:r>
          </a:p>
          <a:p>
            <a:pPr lvl="1"/>
            <a:r>
              <a:rPr lang="en-US" sz="1200" dirty="0"/>
              <a:t>Developed cloud integration (GCS user-specific folders, SharePoint automation)</a:t>
            </a:r>
          </a:p>
          <a:p>
            <a:r>
              <a:rPr lang="en-US" sz="1200" b="1" dirty="0"/>
              <a:t>Data Engineering &amp; Analytics</a:t>
            </a:r>
            <a:endParaRPr lang="en-US" sz="1200" dirty="0"/>
          </a:p>
          <a:p>
            <a:pPr lvl="1"/>
            <a:r>
              <a:rPr lang="en-US" sz="1200" dirty="0"/>
              <a:t>Enhanced forecasting models (</a:t>
            </a:r>
            <a:r>
              <a:rPr lang="en-US" sz="1200" dirty="0" err="1"/>
              <a:t>XGBoost</a:t>
            </a:r>
            <a:r>
              <a:rPr lang="en-US" sz="1200" dirty="0"/>
              <a:t>, ARIMA comparative analysis)</a:t>
            </a:r>
          </a:p>
          <a:p>
            <a:pPr lvl="1"/>
            <a:r>
              <a:rPr lang="en-US" sz="1200" dirty="0"/>
              <a:t>Built semi-automated data pipelines reducing team dependencies</a:t>
            </a:r>
          </a:p>
          <a:p>
            <a:r>
              <a:rPr lang="en-US" sz="1200" b="1" dirty="0"/>
              <a:t>Technologies Mastered</a:t>
            </a:r>
            <a:br>
              <a:rPr lang="en-US" sz="1200" dirty="0"/>
            </a:br>
            <a:r>
              <a:rPr lang="en-US" sz="1200" dirty="0"/>
              <a:t>Gemini 2.5 Pro • GPT-5 • Microsoft Graph API • FactSet API • GCS • SQL/CTEs • JMP • Python • SharePoint</a:t>
            </a:r>
          </a:p>
          <a:p>
            <a:r>
              <a:rPr lang="en-US" sz="1200" b="1" dirty="0"/>
              <a:t>Impact Themes</a:t>
            </a:r>
            <a:br>
              <a:rPr lang="en-US" sz="1200" dirty="0"/>
            </a:br>
            <a:r>
              <a:rPr lang="en-US" sz="1200" dirty="0"/>
              <a:t>Automation •  Security •  Data-Driven Decisions •  AI Innovation •  Dependency Reduction</a:t>
            </a:r>
          </a:p>
        </p:txBody>
      </p:sp>
    </p:spTree>
    <p:extLst>
      <p:ext uri="{BB962C8B-B14F-4D97-AF65-F5344CB8AC3E}">
        <p14:creationId xmlns:p14="http://schemas.microsoft.com/office/powerpoint/2010/main" val="4274397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4F42-938A-0B88-4A85-9284AA2922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5768D-33A8-3278-5407-C5ED19D85FE8}"/>
              </a:ext>
            </a:extLst>
          </p:cNvPr>
          <p:cNvSpPr>
            <a:spLocks noGrp="1"/>
          </p:cNvSpPr>
          <p:nvPr>
            <p:ph type="title"/>
          </p:nvPr>
        </p:nvSpPr>
        <p:spPr/>
        <p:txBody>
          <a:bodyPr/>
          <a:lstStyle/>
          <a:p>
            <a:r>
              <a:rPr lang="en-US" dirty="0"/>
              <a:t>Skills Developed </a:t>
            </a:r>
          </a:p>
        </p:txBody>
      </p:sp>
      <p:sp>
        <p:nvSpPr>
          <p:cNvPr id="3" name="Content Placeholder 2">
            <a:extLst>
              <a:ext uri="{FF2B5EF4-FFF2-40B4-BE49-F238E27FC236}">
                <a16:creationId xmlns:a16="http://schemas.microsoft.com/office/drawing/2014/main" id="{61D06712-9CB8-9A7F-CF31-1A77F5CD22B9}"/>
              </a:ext>
            </a:extLst>
          </p:cNvPr>
          <p:cNvSpPr>
            <a:spLocks noGrp="1"/>
          </p:cNvSpPr>
          <p:nvPr>
            <p:ph idx="1"/>
          </p:nvPr>
        </p:nvSpPr>
        <p:spPr>
          <a:xfrm>
            <a:off x="484630" y="1148641"/>
            <a:ext cx="11219688" cy="5466167"/>
          </a:xfrm>
        </p:spPr>
        <p:txBody>
          <a:bodyPr/>
          <a:lstStyle/>
          <a:p>
            <a:r>
              <a:rPr lang="en-US" sz="1200" b="1" dirty="0"/>
              <a:t>AI/ML Engineering</a:t>
            </a:r>
            <a:endParaRPr lang="en-US" sz="1200" dirty="0"/>
          </a:p>
          <a:p>
            <a:pPr lvl="1"/>
            <a:r>
              <a:rPr lang="en-US" sz="1200" dirty="0"/>
              <a:t>Prompt Engineering &amp; Optimization</a:t>
            </a:r>
          </a:p>
          <a:p>
            <a:pPr lvl="1"/>
            <a:r>
              <a:rPr lang="en-US" sz="1200" dirty="0"/>
              <a:t>Agentic AI Development</a:t>
            </a:r>
          </a:p>
          <a:p>
            <a:pPr lvl="1"/>
            <a:r>
              <a:rPr lang="en-US" sz="1200" dirty="0"/>
              <a:t>LLM Evaluation Frameworks</a:t>
            </a:r>
          </a:p>
          <a:p>
            <a:r>
              <a:rPr lang="en-US" sz="1200" b="1" dirty="0"/>
              <a:t>Performance &amp; Optimization</a:t>
            </a:r>
            <a:endParaRPr lang="en-US" sz="1200" dirty="0"/>
          </a:p>
          <a:p>
            <a:pPr lvl="1"/>
            <a:r>
              <a:rPr lang="en-US" sz="1200" dirty="0"/>
              <a:t>Fast LLM Responses (Chunking Strategies)</a:t>
            </a:r>
          </a:p>
          <a:p>
            <a:pPr lvl="1"/>
            <a:r>
              <a:rPr lang="en-US" sz="1200" dirty="0"/>
              <a:t>Tokenization Optimization</a:t>
            </a:r>
          </a:p>
          <a:p>
            <a:pPr lvl="1"/>
            <a:r>
              <a:rPr lang="en-US" sz="1200" dirty="0" err="1"/>
              <a:t>FastAPI</a:t>
            </a:r>
            <a:r>
              <a:rPr lang="en-US" sz="1200" dirty="0"/>
              <a:t> Development (SMAPI)</a:t>
            </a:r>
          </a:p>
          <a:p>
            <a:r>
              <a:rPr lang="en-US" sz="1200" b="1" dirty="0"/>
              <a:t>Analytics</a:t>
            </a:r>
            <a:endParaRPr lang="en-US" sz="1200" dirty="0"/>
          </a:p>
          <a:p>
            <a:pPr lvl="1"/>
            <a:r>
              <a:rPr lang="en-US" sz="1200" dirty="0"/>
              <a:t>Statistical Modeling</a:t>
            </a:r>
          </a:p>
          <a:p>
            <a:pPr lvl="1"/>
            <a:r>
              <a:rPr lang="en-US" sz="1200" dirty="0"/>
              <a:t>Design of Experiments</a:t>
            </a:r>
          </a:p>
          <a:p>
            <a:r>
              <a:rPr lang="en-US" sz="1200" b="1" dirty="0"/>
              <a:t>Professional</a:t>
            </a:r>
            <a:endParaRPr lang="en-US" sz="1200" dirty="0"/>
          </a:p>
          <a:p>
            <a:pPr lvl="1"/>
            <a:r>
              <a:rPr lang="en-US" sz="1200" dirty="0"/>
              <a:t>Cross-Functional Collaboration • Problem-Solving • Multi-Project Delivery</a:t>
            </a:r>
          </a:p>
        </p:txBody>
      </p:sp>
    </p:spTree>
    <p:extLst>
      <p:ext uri="{BB962C8B-B14F-4D97-AF65-F5344CB8AC3E}">
        <p14:creationId xmlns:p14="http://schemas.microsoft.com/office/powerpoint/2010/main" val="2580801444"/>
      </p:ext>
    </p:extLst>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otx" id="{20DB58A5-9B5F-4CBF-BC08-532B7CDE0172}" vid="{691099E8-08AE-4C81-BCD1-C6E7177F396F}"/>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13B2785-DC69-423C-8096-F103C75DE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373dee95-3004-4e58-b400-fc9a330598fa"/>
    <ds:schemaRef ds:uri="http://schemas.microsoft.com/office/2006/documentManagement/types"/>
    <ds:schemaRef ds:uri="http://schemas.microsoft.com/office/infopath/2007/PartnerControls"/>
    <ds:schemaRef ds:uri="http://purl.org/dc/elements/1.1/"/>
    <ds:schemaRef ds:uri="http://purl.org/dc/terms/"/>
    <ds:schemaRef ds:uri="f6b577cd-6e64-4f00-a024-38a5e216943f"/>
    <ds:schemaRef ds:uri="http://schemas.openxmlformats.org/package/2006/metadata/core-properties"/>
    <ds:schemaRef ds:uri="http://schemas.microsoft.com/office/2006/metadata/properties"/>
    <ds:schemaRef ds:uri="http://www.w3.org/XML/1998/namespace"/>
    <ds:schemaRef ds:uri="http://purl.org/dc/dcmitype/"/>
  </ds:schemaRefs>
</ds:datastoreItem>
</file>

<file path=docMetadata/LabelInfo.xml><?xml version="1.0" encoding="utf-8"?>
<clbl:labelList xmlns:clbl="http://schemas.microsoft.com/office/2020/mipLabelMetadata">
  <clbl:label id="{37874100-6000-43b6-a204-2d77792600b9}" enabled="1" method="Privileged" siteId="{f38a5ecd-2813-4862-b11b-ac1d563c806f}" removed="0"/>
</clbl:labelList>
</file>

<file path=docProps/app.xml><?xml version="1.0" encoding="utf-8"?>
<Properties xmlns="http://schemas.openxmlformats.org/officeDocument/2006/extended-properties" xmlns:vt="http://schemas.openxmlformats.org/officeDocument/2006/docPropsVTypes">
  <Template>blank</Template>
  <TotalTime>39</TotalTime>
  <Words>925</Words>
  <Application>Microsoft Office PowerPoint</Application>
  <PresentationFormat>Widescreen</PresentationFormat>
  <Paragraphs>132</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Verdana</vt:lpstr>
      <vt:lpstr>Micron</vt:lpstr>
      <vt:lpstr>Internship Summary</vt:lpstr>
      <vt:lpstr>Impact-Focused Overview</vt:lpstr>
      <vt:lpstr>Prompt Wizard: Advanced GenAI Summarization Tool</vt:lpstr>
      <vt:lpstr>MIAdmin/NimiApp - Infrastructure &amp; Feature Development</vt:lpstr>
      <vt:lpstr>Attrition Model Headcount - Forecasting Enhancement</vt:lpstr>
      <vt:lpstr>LLM Evaluation &amp; Statistical DOE</vt:lpstr>
      <vt:lpstr>Account Receivable GenAI Summary</vt:lpstr>
      <vt:lpstr>Key Achievements Summary</vt:lpstr>
      <vt:lpstr>Skills Developed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Sukrit Tripathi [ Intern ]</dc:creator>
  <cp:keywords/>
  <dc:description/>
  <cp:lastModifiedBy>Sukrit Tripathi [ Intern ]</cp:lastModifiedBy>
  <cp:revision>1</cp:revision>
  <dcterms:created xsi:type="dcterms:W3CDTF">2025-11-25T15:57:09Z</dcterms:created>
  <dcterms:modified xsi:type="dcterms:W3CDTF">2025-11-25T16:36:56Z</dcterms:modified>
  <cp:category/>
  <cp:version>02</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874100-6000-43b6-a204-2d77792600b9_Enabled">
    <vt:lpwstr>true</vt:lpwstr>
  </property>
  <property fmtid="{D5CDD505-2E9C-101B-9397-08002B2CF9AE}" pid="3" name="MSIP_Label_37874100-6000-43b6-a204-2d77792600b9_SetDate">
    <vt:lpwstr>2023-03-07T21:18:32Z</vt:lpwstr>
  </property>
  <property fmtid="{D5CDD505-2E9C-101B-9397-08002B2CF9AE}" pid="4" name="MSIP_Label_37874100-6000-43b6-a204-2d77792600b9_Method">
    <vt:lpwstr>Privileged</vt:lpwstr>
  </property>
  <property fmtid="{D5CDD505-2E9C-101B-9397-08002B2CF9AE}" pid="5" name="MSIP_Label_37874100-6000-43b6-a204-2d77792600b9_Name">
    <vt:lpwstr>Confidential</vt:lpwstr>
  </property>
  <property fmtid="{D5CDD505-2E9C-101B-9397-08002B2CF9AE}" pid="6" name="MSIP_Label_37874100-6000-43b6-a204-2d77792600b9_SiteId">
    <vt:lpwstr>f38a5ecd-2813-4862-b11b-ac1d563c806f</vt:lpwstr>
  </property>
  <property fmtid="{D5CDD505-2E9C-101B-9397-08002B2CF9AE}" pid="7" name="MSIP_Label_37874100-6000-43b6-a204-2d77792600b9_ActionId">
    <vt:lpwstr>c55e40c3-190f-46c8-9415-ba41091f940c</vt:lpwstr>
  </property>
  <property fmtid="{D5CDD505-2E9C-101B-9397-08002B2CF9AE}" pid="8" name="MSIP_Label_37874100-6000-43b6-a204-2d77792600b9_ContentBits">
    <vt:lpwstr>3</vt:lpwstr>
  </property>
  <property fmtid="{D5CDD505-2E9C-101B-9397-08002B2CF9AE}" pid="9" name="ClassificationContentMarkingHeaderLocations">
    <vt:lpwstr>Micron:7</vt:lpwstr>
  </property>
  <property fmtid="{D5CDD505-2E9C-101B-9397-08002B2CF9AE}" pid="10" name="ClassificationContentMarkingHeaderText">
    <vt:lpwstr>Micron Confidential</vt:lpwstr>
  </property>
  <property fmtid="{D5CDD505-2E9C-101B-9397-08002B2CF9AE}" pid="11" name="ContentTypeId">
    <vt:lpwstr>0x010100BE1454C6C4DF484BB7E354F0133B2527</vt:lpwstr>
  </property>
  <property fmtid="{D5CDD505-2E9C-101B-9397-08002B2CF9AE}" pid="12" name="MediaServiceImageTags">
    <vt:lpwstr/>
  </property>
  <property fmtid="{D5CDD505-2E9C-101B-9397-08002B2CF9AE}" pid="13" name="MSIP_Label_8e19d756-792e-42a1-bcad-4cb9051ddd2d_Enabled">
    <vt:lpwstr>true</vt:lpwstr>
  </property>
  <property fmtid="{D5CDD505-2E9C-101B-9397-08002B2CF9AE}" pid="14" name="MSIP_Label_8e19d756-792e-42a1-bcad-4cb9051ddd2d_SetDate">
    <vt:lpwstr>2025-01-07T15:51:17Z</vt:lpwstr>
  </property>
  <property fmtid="{D5CDD505-2E9C-101B-9397-08002B2CF9AE}" pid="15" name="MSIP_Label_8e19d756-792e-42a1-bcad-4cb9051ddd2d_Method">
    <vt:lpwstr>Standard</vt:lpwstr>
  </property>
  <property fmtid="{D5CDD505-2E9C-101B-9397-08002B2CF9AE}" pid="16" name="MSIP_Label_8e19d756-792e-42a1-bcad-4cb9051ddd2d_Name">
    <vt:lpwstr>Confidential</vt:lpwstr>
  </property>
  <property fmtid="{D5CDD505-2E9C-101B-9397-08002B2CF9AE}" pid="17" name="MSIP_Label_8e19d756-792e-42a1-bcad-4cb9051ddd2d_SiteId">
    <vt:lpwstr>41eb501a-f671-4ce0-a5bf-b64168c3705f</vt:lpwstr>
  </property>
  <property fmtid="{D5CDD505-2E9C-101B-9397-08002B2CF9AE}" pid="18" name="MSIP_Label_8e19d756-792e-42a1-bcad-4cb9051ddd2d_ActionId">
    <vt:lpwstr>f41914a7-38f9-4a23-8387-8a0d10a90b2a</vt:lpwstr>
  </property>
  <property fmtid="{D5CDD505-2E9C-101B-9397-08002B2CF9AE}" pid="19" name="MSIP_Label_8e19d756-792e-42a1-bcad-4cb9051ddd2d_ContentBits">
    <vt:lpwstr>2</vt:lpwstr>
  </property>
  <property fmtid="{D5CDD505-2E9C-101B-9397-08002B2CF9AE}" pid="20" name="ClassificationContentMarkingFooterLocations">
    <vt:lpwstr>Micron:8</vt:lpwstr>
  </property>
  <property fmtid="{D5CDD505-2E9C-101B-9397-08002B2CF9AE}" pid="21" name="ClassificationContentMarkingFooterText">
    <vt:lpwstr>Confidential - Not for Public Consumption or Distribution</vt:lpwstr>
  </property>
</Properties>
</file>