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9" r:id="rId1"/>
    <p:sldMasterId id="2147483689" r:id="rId2"/>
  </p:sldMasterIdLst>
  <p:notesMasterIdLst>
    <p:notesMasterId r:id="rId18"/>
  </p:notesMasterIdLst>
  <p:handoutMasterIdLst>
    <p:handoutMasterId r:id="rId19"/>
  </p:handoutMasterIdLst>
  <p:sldIdLst>
    <p:sldId id="2250" r:id="rId3"/>
    <p:sldId id="2248" r:id="rId4"/>
    <p:sldId id="2251" r:id="rId5"/>
    <p:sldId id="258" r:id="rId6"/>
    <p:sldId id="2253" r:id="rId7"/>
    <p:sldId id="2254" r:id="rId8"/>
    <p:sldId id="2249" r:id="rId9"/>
    <p:sldId id="2255" r:id="rId10"/>
    <p:sldId id="2257" r:id="rId11"/>
    <p:sldId id="2258" r:id="rId12"/>
    <p:sldId id="2259" r:id="rId13"/>
    <p:sldId id="2260" r:id="rId14"/>
    <p:sldId id="2261" r:id="rId15"/>
    <p:sldId id="2262" r:id="rId16"/>
    <p:sldId id="2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1C679C-5CB7-49C2-A73C-1A7B4B8F23BD}">
          <p14:sldIdLst>
            <p14:sldId id="2250"/>
            <p14:sldId id="2248"/>
            <p14:sldId id="2251"/>
            <p14:sldId id="258"/>
            <p14:sldId id="2253"/>
            <p14:sldId id="2254"/>
            <p14:sldId id="2249"/>
            <p14:sldId id="2255"/>
            <p14:sldId id="2257"/>
            <p14:sldId id="2258"/>
            <p14:sldId id="2259"/>
            <p14:sldId id="2260"/>
            <p14:sldId id="2261"/>
            <p14:sldId id="2262"/>
            <p14:sldId id="22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a:srgbClr val="660066"/>
    <a:srgbClr val="404040"/>
    <a:srgbClr val="FE414D"/>
    <a:srgbClr val="079FFF"/>
    <a:srgbClr val="FFE63B"/>
    <a:srgbClr val="00E6C3"/>
    <a:srgbClr val="737373"/>
    <a:srgbClr val="BBBBBB"/>
    <a:srgbClr val="F9F8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70A8F-6AB5-401C-97C5-718DAC797D8F}" v="120" dt="2020-09-18T06:51:09.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69"/>
    <p:restoredTop sz="88889" autoAdjust="0"/>
  </p:normalViewPr>
  <p:slideViewPr>
    <p:cSldViewPr snapToGrid="0" snapToObjects="1">
      <p:cViewPr varScale="1">
        <p:scale>
          <a:sx n="90" d="100"/>
          <a:sy n="90" d="100"/>
        </p:scale>
        <p:origin x="1542" y="30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16" d="100"/>
          <a:sy n="116" d="100"/>
        </p:scale>
        <p:origin x="37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6116BA-94B4-9B42-A44C-2345C92400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E0CDD9A-82F7-104C-AED6-38CF0A3C2E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B38E05-C31B-DA44-A078-B0F5E8D136EE}" type="datetimeFigureOut">
              <a:rPr lang="en-US" smtClean="0"/>
              <a:t>12/5/2025</a:t>
            </a:fld>
            <a:endParaRPr lang="en-US"/>
          </a:p>
        </p:txBody>
      </p:sp>
      <p:sp>
        <p:nvSpPr>
          <p:cNvPr id="4" name="Footer Placeholder 3">
            <a:extLst>
              <a:ext uri="{FF2B5EF4-FFF2-40B4-BE49-F238E27FC236}">
                <a16:creationId xmlns:a16="http://schemas.microsoft.com/office/drawing/2014/main" id="{3EF9E650-9B8A-4341-84D1-5885399B82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8BF723-3D59-4C43-A86A-5E93DB0CE1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13BBE0-6EBB-FB4A-8EE8-A894B0A12833}" type="slidenum">
              <a:rPr lang="en-US" smtClean="0"/>
              <a:t>‹#›</a:t>
            </a:fld>
            <a:endParaRPr lang="en-US"/>
          </a:p>
        </p:txBody>
      </p:sp>
    </p:spTree>
    <p:extLst>
      <p:ext uri="{BB962C8B-B14F-4D97-AF65-F5344CB8AC3E}">
        <p14:creationId xmlns:p14="http://schemas.microsoft.com/office/powerpoint/2010/main" val="171883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Futura Next Book" panose="020B0502020204020303" pitchFamily="34" charset="77"/>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Futura Next Book" panose="020B0502020204020303" pitchFamily="34" charset="77"/>
              </a:defRPr>
            </a:lvl1pPr>
          </a:lstStyle>
          <a:p>
            <a:fld id="{63B08556-8587-1447-A3BE-E1063EB1DDE9}" type="datetimeFigureOut">
              <a:rPr lang="en-US" smtClean="0"/>
              <a:pPr/>
              <a:t>12/5/2025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Futura Next Book" panose="020B0502020204020303" pitchFamily="34" charset="77"/>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Futura Next Book" panose="020B0502020204020303" pitchFamily="34" charset="77"/>
              </a:defRPr>
            </a:lvl1pPr>
          </a:lstStyle>
          <a:p>
            <a:fld id="{7A98D17C-A7EE-D345-89E6-D3D1C299CC23}" type="slidenum">
              <a:rPr lang="en-US" smtClean="0"/>
              <a:pPr/>
              <a:t>‹#›</a:t>
            </a:fld>
            <a:endParaRPr lang="en-US" dirty="0"/>
          </a:p>
        </p:txBody>
      </p:sp>
    </p:spTree>
    <p:extLst>
      <p:ext uri="{BB962C8B-B14F-4D97-AF65-F5344CB8AC3E}">
        <p14:creationId xmlns:p14="http://schemas.microsoft.com/office/powerpoint/2010/main" val="836470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Futura Next Book" panose="020B0502020204020303" pitchFamily="34" charset="77"/>
        <a:ea typeface="+mn-ea"/>
        <a:cs typeface="+mn-cs"/>
      </a:defRPr>
    </a:lvl1pPr>
    <a:lvl2pPr marL="457200" algn="l" defTabSz="914400" rtl="0" eaLnBrk="1" latinLnBrk="0" hangingPunct="1">
      <a:defRPr sz="1200" b="0" i="0" kern="1200">
        <a:solidFill>
          <a:schemeClr val="tx1"/>
        </a:solidFill>
        <a:latin typeface="Futura Next Book" panose="020B0502020204020303" pitchFamily="34" charset="77"/>
        <a:ea typeface="+mn-ea"/>
        <a:cs typeface="+mn-cs"/>
      </a:defRPr>
    </a:lvl2pPr>
    <a:lvl3pPr marL="914400" algn="l" defTabSz="914400" rtl="0" eaLnBrk="1" latinLnBrk="0" hangingPunct="1">
      <a:defRPr sz="1200" b="0" i="0" kern="1200">
        <a:solidFill>
          <a:schemeClr val="tx1"/>
        </a:solidFill>
        <a:latin typeface="Futura Next Book" panose="020B0502020204020303" pitchFamily="34" charset="77"/>
        <a:ea typeface="+mn-ea"/>
        <a:cs typeface="+mn-cs"/>
      </a:defRPr>
    </a:lvl3pPr>
    <a:lvl4pPr marL="1371600" algn="l" defTabSz="914400" rtl="0" eaLnBrk="1" latinLnBrk="0" hangingPunct="1">
      <a:defRPr sz="1200" b="0" i="0" kern="1200">
        <a:solidFill>
          <a:schemeClr val="tx1"/>
        </a:solidFill>
        <a:latin typeface="Futura Next Book" panose="020B0502020204020303" pitchFamily="34" charset="77"/>
        <a:ea typeface="+mn-ea"/>
        <a:cs typeface="+mn-cs"/>
      </a:defRPr>
    </a:lvl4pPr>
    <a:lvl5pPr marL="1828800" algn="l" defTabSz="914400" rtl="0" eaLnBrk="1" latinLnBrk="0" hangingPunct="1">
      <a:defRPr sz="1200" b="0" i="0" kern="1200">
        <a:solidFill>
          <a:schemeClr val="tx1"/>
        </a:solidFill>
        <a:latin typeface="Futura Next Book" panose="020B0502020204020303" pitchFamily="34"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6141F-1C8F-65CE-5530-15CD738E7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C35B9-13D2-296E-8D48-C8D2F4DFCC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99AF57-3650-3EFB-9B05-E9DAEA3A6F38}"/>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CD9E2B2A-68AF-873A-73FA-311D4A011488}"/>
              </a:ext>
            </a:extLst>
          </p:cNvPr>
          <p:cNvSpPr>
            <a:spLocks noGrp="1"/>
          </p:cNvSpPr>
          <p:nvPr>
            <p:ph type="sldNum" sz="quarter" idx="10"/>
          </p:nvPr>
        </p:nvSpPr>
        <p:spPr/>
        <p:txBody>
          <a:bodyPr/>
          <a:lstStyle/>
          <a:p>
            <a:fld id="{7A98D17C-A7EE-D345-89E6-D3D1C299CC23}" type="slidenum">
              <a:rPr lang="en-US" smtClean="0"/>
              <a:pPr/>
              <a:t>1</a:t>
            </a:fld>
            <a:endParaRPr lang="en-US" dirty="0"/>
          </a:p>
        </p:txBody>
      </p:sp>
    </p:spTree>
    <p:extLst>
      <p:ext uri="{BB962C8B-B14F-4D97-AF65-F5344CB8AC3E}">
        <p14:creationId xmlns:p14="http://schemas.microsoft.com/office/powerpoint/2010/main" val="702375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7A98D17C-A7EE-D345-89E6-D3D1C299CC23}" type="slidenum">
              <a:rPr lang="en-US" smtClean="0"/>
              <a:pPr/>
              <a:t>2</a:t>
            </a:fld>
            <a:endParaRPr lang="en-US" dirty="0"/>
          </a:p>
        </p:txBody>
      </p:sp>
    </p:spTree>
    <p:extLst>
      <p:ext uri="{BB962C8B-B14F-4D97-AF65-F5344CB8AC3E}">
        <p14:creationId xmlns:p14="http://schemas.microsoft.com/office/powerpoint/2010/main" val="1649168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0BB6-5E5E-80C4-04DA-7B3F2A178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47896-9A86-6B0A-6C05-BE4734DB6B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A95180-583D-A671-46FC-D05E90A2B3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6672B2-2911-8A90-2830-298BC6BB1B49}"/>
              </a:ext>
            </a:extLst>
          </p:cNvPr>
          <p:cNvSpPr>
            <a:spLocks noGrp="1"/>
          </p:cNvSpPr>
          <p:nvPr>
            <p:ph type="sldNum" sz="quarter" idx="10"/>
          </p:nvPr>
        </p:nvSpPr>
        <p:spPr/>
        <p:txBody>
          <a:bodyPr/>
          <a:lstStyle/>
          <a:p>
            <a:fld id="{7A98D17C-A7EE-D345-89E6-D3D1C299CC23}" type="slidenum">
              <a:rPr lang="en-US" smtClean="0"/>
              <a:pPr/>
              <a:t>3</a:t>
            </a:fld>
            <a:endParaRPr lang="en-US" dirty="0"/>
          </a:p>
        </p:txBody>
      </p:sp>
    </p:spTree>
    <p:extLst>
      <p:ext uri="{BB962C8B-B14F-4D97-AF65-F5344CB8AC3E}">
        <p14:creationId xmlns:p14="http://schemas.microsoft.com/office/powerpoint/2010/main" val="2030041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98D17C-A7EE-D345-89E6-D3D1C299CC23}" type="slidenum">
              <a:rPr lang="en-US" smtClean="0"/>
              <a:pPr/>
              <a:t>4</a:t>
            </a:fld>
            <a:endParaRPr lang="en-US" dirty="0"/>
          </a:p>
        </p:txBody>
      </p:sp>
    </p:spTree>
    <p:extLst>
      <p:ext uri="{BB962C8B-B14F-4D97-AF65-F5344CB8AC3E}">
        <p14:creationId xmlns:p14="http://schemas.microsoft.com/office/powerpoint/2010/main" val="3759644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4B320-69DA-96A3-865E-EFDC75982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C06D4-A5C5-EAF8-3405-C7A9C2525D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862152D-FAAA-D0B6-B847-4A06AF0CFA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29C47-0B91-3592-A2B7-909F90091ADD}"/>
              </a:ext>
            </a:extLst>
          </p:cNvPr>
          <p:cNvSpPr>
            <a:spLocks noGrp="1"/>
          </p:cNvSpPr>
          <p:nvPr>
            <p:ph type="sldNum" sz="quarter" idx="10"/>
          </p:nvPr>
        </p:nvSpPr>
        <p:spPr/>
        <p:txBody>
          <a:bodyPr/>
          <a:lstStyle/>
          <a:p>
            <a:fld id="{7A98D17C-A7EE-D345-89E6-D3D1C299CC23}" type="slidenum">
              <a:rPr lang="en-US" smtClean="0"/>
              <a:pPr/>
              <a:t>5</a:t>
            </a:fld>
            <a:endParaRPr lang="en-US" dirty="0"/>
          </a:p>
        </p:txBody>
      </p:sp>
    </p:spTree>
    <p:extLst>
      <p:ext uri="{BB962C8B-B14F-4D97-AF65-F5344CB8AC3E}">
        <p14:creationId xmlns:p14="http://schemas.microsoft.com/office/powerpoint/2010/main" val="2942732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1AB92-8335-336F-E56F-46895E2C8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6F418-8075-AEEC-55AC-E64336F3FC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D301AC-D77C-DE6E-D3B1-64FB4A8844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5CE055-0859-E86D-093C-03D1B9F8BF90}"/>
              </a:ext>
            </a:extLst>
          </p:cNvPr>
          <p:cNvSpPr>
            <a:spLocks noGrp="1"/>
          </p:cNvSpPr>
          <p:nvPr>
            <p:ph type="sldNum" sz="quarter" idx="10"/>
          </p:nvPr>
        </p:nvSpPr>
        <p:spPr/>
        <p:txBody>
          <a:bodyPr/>
          <a:lstStyle/>
          <a:p>
            <a:fld id="{7A98D17C-A7EE-D345-89E6-D3D1C299CC23}" type="slidenum">
              <a:rPr lang="en-US" smtClean="0"/>
              <a:pPr/>
              <a:t>6</a:t>
            </a:fld>
            <a:endParaRPr lang="en-US" dirty="0"/>
          </a:p>
        </p:txBody>
      </p:sp>
    </p:spTree>
    <p:extLst>
      <p:ext uri="{BB962C8B-B14F-4D97-AF65-F5344CB8AC3E}">
        <p14:creationId xmlns:p14="http://schemas.microsoft.com/office/powerpoint/2010/main" val="892002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5BDEE-4E9C-A84A-50D3-45CE1A2BF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121EA-66E1-4891-6789-A626DA2855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FB7C9A-B315-73DE-4ACE-13675F76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6DF1A4-0FD7-785C-7DC0-96067A848713}"/>
              </a:ext>
            </a:extLst>
          </p:cNvPr>
          <p:cNvSpPr>
            <a:spLocks noGrp="1"/>
          </p:cNvSpPr>
          <p:nvPr>
            <p:ph type="sldNum" sz="quarter" idx="10"/>
          </p:nvPr>
        </p:nvSpPr>
        <p:spPr/>
        <p:txBody>
          <a:bodyPr/>
          <a:lstStyle/>
          <a:p>
            <a:fld id="{7A98D17C-A7EE-D345-89E6-D3D1C299CC23}" type="slidenum">
              <a:rPr lang="en-US" smtClean="0"/>
              <a:pPr/>
              <a:t>7</a:t>
            </a:fld>
            <a:endParaRPr lang="en-US" dirty="0"/>
          </a:p>
        </p:txBody>
      </p:sp>
    </p:spTree>
    <p:extLst>
      <p:ext uri="{BB962C8B-B14F-4D97-AF65-F5344CB8AC3E}">
        <p14:creationId xmlns:p14="http://schemas.microsoft.com/office/powerpoint/2010/main" val="2301374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AF36-721E-12BD-ADA8-0ADABD240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FFC38-836D-BED4-6AFF-AB83305EC4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43124-AE09-A91C-F089-46188A315B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9F253A-DC46-7C0F-7D1B-042EA77C5501}"/>
              </a:ext>
            </a:extLst>
          </p:cNvPr>
          <p:cNvSpPr>
            <a:spLocks noGrp="1"/>
          </p:cNvSpPr>
          <p:nvPr>
            <p:ph type="sldNum" sz="quarter" idx="10"/>
          </p:nvPr>
        </p:nvSpPr>
        <p:spPr/>
        <p:txBody>
          <a:bodyPr/>
          <a:lstStyle/>
          <a:p>
            <a:fld id="{7A98D17C-A7EE-D345-89E6-D3D1C299CC23}" type="slidenum">
              <a:rPr lang="en-US" smtClean="0"/>
              <a:pPr/>
              <a:t>8</a:t>
            </a:fld>
            <a:endParaRPr lang="en-US" dirty="0"/>
          </a:p>
        </p:txBody>
      </p:sp>
    </p:spTree>
    <p:extLst>
      <p:ext uri="{BB962C8B-B14F-4D97-AF65-F5344CB8AC3E}">
        <p14:creationId xmlns:p14="http://schemas.microsoft.com/office/powerpoint/2010/main" val="2763489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2365D-6878-6B75-456E-CCCE6EFCA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A3A76-7C9D-B1F1-D859-C44CA52E42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85A217-C349-C9D7-1420-DB4CFD2F62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6B80A1-0CBB-B545-E168-B89020D86472}"/>
              </a:ext>
            </a:extLst>
          </p:cNvPr>
          <p:cNvSpPr>
            <a:spLocks noGrp="1"/>
          </p:cNvSpPr>
          <p:nvPr>
            <p:ph type="sldNum" sz="quarter" idx="10"/>
          </p:nvPr>
        </p:nvSpPr>
        <p:spPr/>
        <p:txBody>
          <a:bodyPr/>
          <a:lstStyle/>
          <a:p>
            <a:fld id="{7A98D17C-A7EE-D345-89E6-D3D1C299CC23}" type="slidenum">
              <a:rPr lang="en-US" smtClean="0"/>
              <a:pPr/>
              <a:t>9</a:t>
            </a:fld>
            <a:endParaRPr lang="en-US" dirty="0"/>
          </a:p>
        </p:txBody>
      </p:sp>
    </p:spTree>
    <p:extLst>
      <p:ext uri="{BB962C8B-B14F-4D97-AF65-F5344CB8AC3E}">
        <p14:creationId xmlns:p14="http://schemas.microsoft.com/office/powerpoint/2010/main" val="473111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8F2B5-C16A-E9D2-2AD9-515D88A5D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1EA21-30AC-2E23-E526-1810CF5119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C47FE0-D10A-E81C-F5EF-E7624E9CAA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9AFEDD-807E-91FF-312B-71FA40FF5DF2}"/>
              </a:ext>
            </a:extLst>
          </p:cNvPr>
          <p:cNvSpPr>
            <a:spLocks noGrp="1"/>
          </p:cNvSpPr>
          <p:nvPr>
            <p:ph type="sldNum" sz="quarter" idx="10"/>
          </p:nvPr>
        </p:nvSpPr>
        <p:spPr/>
        <p:txBody>
          <a:bodyPr/>
          <a:lstStyle/>
          <a:p>
            <a:fld id="{7A98D17C-A7EE-D345-89E6-D3D1C299CC23}" type="slidenum">
              <a:rPr lang="en-US" smtClean="0"/>
              <a:pPr/>
              <a:t>10</a:t>
            </a:fld>
            <a:endParaRPr lang="en-US" dirty="0"/>
          </a:p>
        </p:txBody>
      </p:sp>
    </p:spTree>
    <p:extLst>
      <p:ext uri="{BB962C8B-B14F-4D97-AF65-F5344CB8AC3E}">
        <p14:creationId xmlns:p14="http://schemas.microsoft.com/office/powerpoint/2010/main" val="3159442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1FDE2-D7A0-E96E-58BC-9806BD123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678FA-5BA5-73B6-2F3F-C31A600BE2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50332A-0BE7-4A5F-7D94-4187E20B3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FEE67B-7FD1-DDF6-9262-37BB644F2DD7}"/>
              </a:ext>
            </a:extLst>
          </p:cNvPr>
          <p:cNvSpPr>
            <a:spLocks noGrp="1"/>
          </p:cNvSpPr>
          <p:nvPr>
            <p:ph type="sldNum" sz="quarter" idx="10"/>
          </p:nvPr>
        </p:nvSpPr>
        <p:spPr/>
        <p:txBody>
          <a:bodyPr/>
          <a:lstStyle/>
          <a:p>
            <a:fld id="{7A98D17C-A7EE-D345-89E6-D3D1C299CC23}" type="slidenum">
              <a:rPr lang="en-US" smtClean="0"/>
              <a:pPr/>
              <a:t>11</a:t>
            </a:fld>
            <a:endParaRPr lang="en-US" dirty="0"/>
          </a:p>
        </p:txBody>
      </p:sp>
    </p:spTree>
    <p:extLst>
      <p:ext uri="{BB962C8B-B14F-4D97-AF65-F5344CB8AC3E}">
        <p14:creationId xmlns:p14="http://schemas.microsoft.com/office/powerpoint/2010/main" val="1648310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0B15E-5967-7070-82B1-FF0517277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E7C33-E79A-A113-50C1-A2A7709A4D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74F4F2-5F56-B18E-535D-E09419B358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DBD39-7CA8-1448-08E3-DDF6327BDC51}"/>
              </a:ext>
            </a:extLst>
          </p:cNvPr>
          <p:cNvSpPr>
            <a:spLocks noGrp="1"/>
          </p:cNvSpPr>
          <p:nvPr>
            <p:ph type="sldNum" sz="quarter" idx="10"/>
          </p:nvPr>
        </p:nvSpPr>
        <p:spPr/>
        <p:txBody>
          <a:bodyPr/>
          <a:lstStyle/>
          <a:p>
            <a:fld id="{7A98D17C-A7EE-D345-89E6-D3D1C299CC23}" type="slidenum">
              <a:rPr lang="en-US" smtClean="0"/>
              <a:pPr/>
              <a:t>12</a:t>
            </a:fld>
            <a:endParaRPr lang="en-US" dirty="0"/>
          </a:p>
        </p:txBody>
      </p:sp>
    </p:spTree>
    <p:extLst>
      <p:ext uri="{BB962C8B-B14F-4D97-AF65-F5344CB8AC3E}">
        <p14:creationId xmlns:p14="http://schemas.microsoft.com/office/powerpoint/2010/main" val="1797097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D64F8-DD99-52D7-B882-54510A231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DBAB5-8B4E-686D-9164-B488E6FA4C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7A32C9-6BA2-4ADF-8B30-CD6066740A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C2864E-E1DA-0957-340A-82E849493659}"/>
              </a:ext>
            </a:extLst>
          </p:cNvPr>
          <p:cNvSpPr>
            <a:spLocks noGrp="1"/>
          </p:cNvSpPr>
          <p:nvPr>
            <p:ph type="sldNum" sz="quarter" idx="10"/>
          </p:nvPr>
        </p:nvSpPr>
        <p:spPr/>
        <p:txBody>
          <a:bodyPr/>
          <a:lstStyle/>
          <a:p>
            <a:fld id="{7A98D17C-A7EE-D345-89E6-D3D1C299CC23}" type="slidenum">
              <a:rPr lang="en-US" smtClean="0"/>
              <a:pPr/>
              <a:t>13</a:t>
            </a:fld>
            <a:endParaRPr lang="en-US" dirty="0"/>
          </a:p>
        </p:txBody>
      </p:sp>
    </p:spTree>
    <p:extLst>
      <p:ext uri="{BB962C8B-B14F-4D97-AF65-F5344CB8AC3E}">
        <p14:creationId xmlns:p14="http://schemas.microsoft.com/office/powerpoint/2010/main" val="2292032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BEE0-3E89-0134-6E05-6D46DD5E3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FD5E5-BD43-40CC-00F0-C3EAE621BC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C99756-5B77-D7FE-86F6-43242FB177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A05E30-524F-DB35-E3A1-9C5C92EE452F}"/>
              </a:ext>
            </a:extLst>
          </p:cNvPr>
          <p:cNvSpPr>
            <a:spLocks noGrp="1"/>
          </p:cNvSpPr>
          <p:nvPr>
            <p:ph type="sldNum" sz="quarter" idx="10"/>
          </p:nvPr>
        </p:nvSpPr>
        <p:spPr/>
        <p:txBody>
          <a:bodyPr/>
          <a:lstStyle/>
          <a:p>
            <a:fld id="{7A98D17C-A7EE-D345-89E6-D3D1C299CC23}" type="slidenum">
              <a:rPr lang="en-US" smtClean="0"/>
              <a:pPr/>
              <a:t>14</a:t>
            </a:fld>
            <a:endParaRPr lang="en-US" dirty="0"/>
          </a:p>
        </p:txBody>
      </p:sp>
    </p:spTree>
    <p:extLst>
      <p:ext uri="{BB962C8B-B14F-4D97-AF65-F5344CB8AC3E}">
        <p14:creationId xmlns:p14="http://schemas.microsoft.com/office/powerpoint/2010/main" val="3425782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4B06D-4921-0F58-6A82-775EE3741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00420-C8F2-D449-AC44-00117E1567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D21D99-E438-7770-A70F-945D832D4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F156DC-5DD8-C27B-3F25-17BFF7A7957B}"/>
              </a:ext>
            </a:extLst>
          </p:cNvPr>
          <p:cNvSpPr>
            <a:spLocks noGrp="1"/>
          </p:cNvSpPr>
          <p:nvPr>
            <p:ph type="sldNum" sz="quarter" idx="10"/>
          </p:nvPr>
        </p:nvSpPr>
        <p:spPr/>
        <p:txBody>
          <a:bodyPr/>
          <a:lstStyle/>
          <a:p>
            <a:fld id="{7A98D17C-A7EE-D345-89E6-D3D1C299CC23}" type="slidenum">
              <a:rPr lang="en-US" smtClean="0"/>
              <a:pPr/>
              <a:t>15</a:t>
            </a:fld>
            <a:endParaRPr lang="en-US" dirty="0"/>
          </a:p>
        </p:txBody>
      </p:sp>
    </p:spTree>
    <p:extLst>
      <p:ext uri="{BB962C8B-B14F-4D97-AF65-F5344CB8AC3E}">
        <p14:creationId xmlns:p14="http://schemas.microsoft.com/office/powerpoint/2010/main" val="3909943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lvl1pPr>
            <a:lvl3pPr>
              <a:buAutoNum type="arabicPeriod"/>
              <a:defRPr/>
            </a:lvl3pPr>
            <a:lvl4pPr>
              <a:buAutoNum type="arabicPeriod"/>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FF4E962C-0BD3-2C49-BA40-132C79AA64C0}"/>
              </a:ext>
            </a:extLst>
          </p:cNvPr>
          <p:cNvSpPr>
            <a:spLocks noGrp="1"/>
          </p:cNvSpPr>
          <p:nvPr>
            <p:ph type="sldNum" sz="quarter" idx="14"/>
          </p:nvPr>
        </p:nvSpPr>
        <p:spPr/>
        <p:txBody>
          <a:bodyPr/>
          <a:lstStyle/>
          <a:p>
            <a:fld id="{58B792A5-9BAE-6942-BFE1-9FCDB51EA51E}" type="slidenum">
              <a:rPr lang="en-US" smtClean="0"/>
              <a:pPr/>
              <a:t>‹#›</a:t>
            </a:fld>
            <a:endParaRPr lang="en-US" dirty="0"/>
          </a:p>
        </p:txBody>
      </p:sp>
    </p:spTree>
    <p:extLst>
      <p:ext uri="{BB962C8B-B14F-4D97-AF65-F5344CB8AC3E}">
        <p14:creationId xmlns:p14="http://schemas.microsoft.com/office/powerpoint/2010/main" val="7806157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mage Full Page">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D3FCD2E8-B38F-154E-A1D1-148E331A35C0}"/>
              </a:ext>
            </a:extLst>
          </p:cNvPr>
          <p:cNvSpPr>
            <a:spLocks noGrp="1"/>
          </p:cNvSpPr>
          <p:nvPr>
            <p:ph type="pic" sz="quarter" idx="11" hasCustomPrompt="1"/>
          </p:nvPr>
        </p:nvSpPr>
        <p:spPr>
          <a:xfrm>
            <a:off x="0" y="0"/>
            <a:ext cx="12188952" cy="6858000"/>
          </a:xfrm>
          <a:prstGeom prst="rect">
            <a:avLst/>
          </a:prstGeom>
          <a:solidFill>
            <a:schemeClr val="tx2"/>
          </a:solidFill>
        </p:spPr>
        <p:txBody>
          <a:bodyPr tIns="640080" bIns="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dirty="0"/>
              <a:t>Drag and drop image or click icon to add</a:t>
            </a:r>
          </a:p>
        </p:txBody>
      </p:sp>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533400"/>
            <a:ext cx="10817352" cy="749808"/>
          </a:xfrm>
        </p:spPr>
        <p:txBody>
          <a:bodyPr anchor="t" anchorCtr="0"/>
          <a:lstStyle>
            <a:lvl1pPr>
              <a:defRPr sz="2300" b="0" i="0">
                <a:latin typeface="Futura Next Medium" panose="020B0602020204020303" pitchFamily="34" charset="77"/>
              </a:defRPr>
            </a:lvl1pPr>
          </a:lstStyle>
          <a:p>
            <a:r>
              <a:rPr lang="en-US" dirty="0"/>
              <a:t>Long title sentence case, the standard chunk of Lorem Ipsum used since the 1500s is reproduced below for those interested.</a:t>
            </a:r>
          </a:p>
        </p:txBody>
      </p:sp>
      <p:sp>
        <p:nvSpPr>
          <p:cNvPr id="4" name="Slide Number Placeholder 3">
            <a:extLst>
              <a:ext uri="{FF2B5EF4-FFF2-40B4-BE49-F238E27FC236}">
                <a16:creationId xmlns:a16="http://schemas.microsoft.com/office/drawing/2014/main" id="{5F643FF8-B6AD-F44E-B5A7-CEB62A0D2D01}"/>
              </a:ext>
            </a:extLst>
          </p:cNvPr>
          <p:cNvSpPr>
            <a:spLocks noGrp="1"/>
          </p:cNvSpPr>
          <p:nvPr>
            <p:ph type="sldNum" sz="quarter" idx="12"/>
          </p:nvPr>
        </p:nvSpPr>
        <p:spPr/>
        <p:txBody>
          <a:bodyPr/>
          <a:lstStyle>
            <a:lvl1pPr>
              <a:defRPr>
                <a:solidFill>
                  <a:schemeClr val="bg1"/>
                </a:solidFill>
              </a:defRPr>
            </a:lvl1pPr>
          </a:lstStyle>
          <a:p>
            <a:fld id="{58B792A5-9BAE-6942-BFE1-9FCDB51EA51E}" type="slidenum">
              <a:rPr lang="en-US" smtClean="0"/>
              <a:pPr/>
              <a:t>‹#›</a:t>
            </a:fld>
            <a:endParaRPr lang="en-US" dirty="0"/>
          </a:p>
        </p:txBody>
      </p:sp>
    </p:spTree>
    <p:extLst>
      <p:ext uri="{BB962C8B-B14F-4D97-AF65-F5344CB8AC3E}">
        <p14:creationId xmlns:p14="http://schemas.microsoft.com/office/powerpoint/2010/main" val="1809442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age Full Page">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D3FCD2E8-B38F-154E-A1D1-148E331A35C0}"/>
              </a:ext>
            </a:extLst>
          </p:cNvPr>
          <p:cNvSpPr>
            <a:spLocks noGrp="1"/>
          </p:cNvSpPr>
          <p:nvPr>
            <p:ph type="pic" sz="quarter" idx="11" hasCustomPrompt="1"/>
          </p:nvPr>
        </p:nvSpPr>
        <p:spPr>
          <a:xfrm>
            <a:off x="0" y="0"/>
            <a:ext cx="12188952" cy="6858000"/>
          </a:xfrm>
          <a:prstGeom prst="rect">
            <a:avLst/>
          </a:prstGeom>
          <a:solidFill>
            <a:schemeClr val="tx2"/>
          </a:solidFill>
        </p:spPr>
        <p:txBody>
          <a:bodyPr tIns="640080" bIns="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dirty="0"/>
              <a:t>Drag and drop image or click icon to add</a:t>
            </a:r>
          </a:p>
        </p:txBody>
      </p:sp>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533400"/>
            <a:ext cx="10817352" cy="749808"/>
          </a:xfrm>
        </p:spPr>
        <p:txBody>
          <a:bodyPr anchor="t" anchorCtr="0"/>
          <a:lstStyle>
            <a:lvl1pPr>
              <a:defRPr sz="2300" b="0" i="0">
                <a:latin typeface="Futura Next Medium" panose="020B0602020204020303" pitchFamily="34" charset="77"/>
              </a:defRPr>
            </a:lvl1pPr>
          </a:lstStyle>
          <a:p>
            <a:r>
              <a:rPr lang="en-US" dirty="0"/>
              <a:t>Long title sentence case, the standard chunk of Lorem Ipsum used since the 1500s is reproduced below for those interested.</a:t>
            </a:r>
          </a:p>
        </p:txBody>
      </p:sp>
      <p:sp>
        <p:nvSpPr>
          <p:cNvPr id="4" name="Slide Number Placeholder 3">
            <a:extLst>
              <a:ext uri="{FF2B5EF4-FFF2-40B4-BE49-F238E27FC236}">
                <a16:creationId xmlns:a16="http://schemas.microsoft.com/office/drawing/2014/main" id="{5F643FF8-B6AD-F44E-B5A7-CEB62A0D2D01}"/>
              </a:ext>
            </a:extLst>
          </p:cNvPr>
          <p:cNvSpPr>
            <a:spLocks noGrp="1"/>
          </p:cNvSpPr>
          <p:nvPr>
            <p:ph type="sldNum" sz="quarter" idx="12"/>
          </p:nvPr>
        </p:nvSpPr>
        <p:spPr/>
        <p:txBody>
          <a:bodyPr/>
          <a:lstStyle>
            <a:lvl1pPr>
              <a:defRPr>
                <a:solidFill>
                  <a:schemeClr val="bg1"/>
                </a:solidFill>
              </a:defRPr>
            </a:lvl1pPr>
          </a:lstStyle>
          <a:p>
            <a:fld id="{58B792A5-9BAE-6942-BFE1-9FCDB51EA51E}" type="slidenum">
              <a:rPr lang="en-US" smtClean="0"/>
              <a:pPr/>
              <a:t>‹#›</a:t>
            </a:fld>
            <a:endParaRPr lang="en-US" dirty="0"/>
          </a:p>
        </p:txBody>
      </p:sp>
    </p:spTree>
    <p:extLst>
      <p:ext uri="{BB962C8B-B14F-4D97-AF65-F5344CB8AC3E}">
        <p14:creationId xmlns:p14="http://schemas.microsoft.com/office/powerpoint/2010/main" val="1060947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lvl1pPr>
            <a:lvl3pPr>
              <a:buAutoNum type="arabicPeriod"/>
              <a:defRPr/>
            </a:lvl3pPr>
            <a:lvl4pPr>
              <a:buAutoNum type="arabicPeriod"/>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FF4E962C-0BD3-2C49-BA40-132C79AA64C0}"/>
              </a:ext>
            </a:extLst>
          </p:cNvPr>
          <p:cNvSpPr>
            <a:spLocks noGrp="1"/>
          </p:cNvSpPr>
          <p:nvPr>
            <p:ph type="sldNum" sz="quarter" idx="14"/>
          </p:nvPr>
        </p:nvSpPr>
        <p:spPr/>
        <p:txBody>
          <a:bodyPr/>
          <a:lstStyle/>
          <a:p>
            <a:fld id="{58B792A5-9BAE-6942-BFE1-9FCDB51EA51E}" type="slidenum">
              <a:rPr lang="en-US" smtClean="0"/>
              <a:pPr/>
              <a:t>‹#›</a:t>
            </a:fld>
            <a:endParaRPr lang="en-US" dirty="0"/>
          </a:p>
        </p:txBody>
      </p:sp>
    </p:spTree>
    <p:extLst>
      <p:ext uri="{BB962C8B-B14F-4D97-AF65-F5344CB8AC3E}">
        <p14:creationId xmlns:p14="http://schemas.microsoft.com/office/powerpoint/2010/main" val="369760134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F956D247-3C63-4B4D-9D8E-FC3B25350A4A}"/>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dirty="0"/>
          </a:p>
        </p:txBody>
      </p:sp>
      <p:sp>
        <p:nvSpPr>
          <p:cNvPr id="7" name="TextBox 6">
            <a:extLst>
              <a:ext uri="{FF2B5EF4-FFF2-40B4-BE49-F238E27FC236}">
                <a16:creationId xmlns:a16="http://schemas.microsoft.com/office/drawing/2014/main" id="{A8041A8D-8EDF-1784-61A3-EE5872A38AFA}"/>
              </a:ext>
            </a:extLst>
          </p:cNvPr>
          <p:cNvSpPr txBox="1"/>
          <p:nvPr userDrawn="1">
            <p:extLst>
              <p:ext uri="{1162E1C5-73C7-4A58-AE30-91384D911F3F}">
                <p184:classification xmlns:p184="http://schemas.microsoft.com/office/powerpoint/2018/4/main" val="hdr"/>
              </p:ext>
            </p:extLst>
          </p:nvPr>
        </p:nvSpPr>
        <p:spPr>
          <a:xfrm>
            <a:off x="63500" y="63500"/>
            <a:ext cx="1341438"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1C90D76F-312B-6924-BFB4-BA0B6525F5FB}"/>
              </a:ext>
            </a:extLst>
          </p:cNvPr>
          <p:cNvSpPr txBox="1"/>
          <p:nvPr userDrawn="1">
            <p:extLst>
              <p:ext uri="{1162E1C5-73C7-4A58-AE30-91384D911F3F}">
                <p184:classification xmlns:p184="http://schemas.microsoft.com/office/powerpoint/2018/4/main" val="ftr"/>
              </p:ext>
            </p:extLst>
          </p:nvPr>
        </p:nvSpPr>
        <p:spPr>
          <a:xfrm>
            <a:off x="63500" y="6611620"/>
            <a:ext cx="1341438"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363897208"/>
      </p:ext>
    </p:extLst>
  </p:cSld>
  <p:clrMap bg1="lt1" tx1="dk1" bg2="lt2" tx2="dk2" accent1="accent1" accent2="accent2" accent3="accent3" accent4="accent4" accent5="accent5" accent6="accent6" hlink="hlink" folHlink="folHlink"/>
  <p:sldLayoutIdLst>
    <p:sldLayoutId id="2147483660" r:id="rId1"/>
    <p:sldLayoutId id="2147483918" r:id="rId2"/>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b="0" i="0" kern="1200">
          <a:solidFill>
            <a:schemeClr val="tx1"/>
          </a:solidFill>
          <a:latin typeface="Futura Next Book" panose="020B0502020204020303" pitchFamily="34" charset="77"/>
          <a:ea typeface="+mn-ea"/>
          <a:cs typeface="+mn-cs"/>
        </a:defRPr>
      </a:lvl1pPr>
      <a:lvl2pPr marL="690563" indent="-342900"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2pPr>
      <a:lvl3pPr marL="1031875"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3pPr>
      <a:lvl4pPr marL="1373188"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4pPr>
      <a:lvl5pPr marL="1714500"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userDrawn="1">
          <p15:clr>
            <a:srgbClr val="F26B43"/>
          </p15:clr>
        </p15:guide>
        <p15:guide id="2" pos="432" userDrawn="1">
          <p15:clr>
            <a:srgbClr val="F26B43"/>
          </p15:clr>
        </p15:guide>
        <p15:guide id="3" pos="7248" userDrawn="1">
          <p15:clr>
            <a:srgbClr val="F26B43"/>
          </p15:clr>
        </p15:guide>
        <p15:guide id="4" pos="768" userDrawn="1">
          <p15:clr>
            <a:srgbClr val="F26B43"/>
          </p15:clr>
        </p15:guide>
        <p15:guide id="5" pos="1008" userDrawn="1">
          <p15:clr>
            <a:srgbClr val="F26B43"/>
          </p15:clr>
        </p15:guide>
        <p15:guide id="6" pos="1368" userDrawn="1">
          <p15:clr>
            <a:srgbClr val="F26B43"/>
          </p15:clr>
        </p15:guide>
        <p15:guide id="7" pos="1608" userDrawn="1">
          <p15:clr>
            <a:srgbClr val="F26B43"/>
          </p15:clr>
        </p15:guide>
        <p15:guide id="8" pos="1944" userDrawn="1">
          <p15:clr>
            <a:srgbClr val="F26B43"/>
          </p15:clr>
        </p15:guide>
        <p15:guide id="9" pos="2184" userDrawn="1">
          <p15:clr>
            <a:srgbClr val="F26B43"/>
          </p15:clr>
        </p15:guide>
        <p15:guide id="10" pos="2544" userDrawn="1">
          <p15:clr>
            <a:srgbClr val="F26B43"/>
          </p15:clr>
        </p15:guide>
        <p15:guide id="11" pos="2784" userDrawn="1">
          <p15:clr>
            <a:srgbClr val="F26B43"/>
          </p15:clr>
        </p15:guide>
        <p15:guide id="12" pos="3120" userDrawn="1">
          <p15:clr>
            <a:srgbClr val="F26B43"/>
          </p15:clr>
        </p15:guide>
        <p15:guide id="13" pos="3360" userDrawn="1">
          <p15:clr>
            <a:srgbClr val="F26B43"/>
          </p15:clr>
        </p15:guide>
        <p15:guide id="14" pos="3720" userDrawn="1">
          <p15:clr>
            <a:srgbClr val="F26B43"/>
          </p15:clr>
        </p15:guide>
        <p15:guide id="15" pos="3960" userDrawn="1">
          <p15:clr>
            <a:srgbClr val="F26B43"/>
          </p15:clr>
        </p15:guide>
        <p15:guide id="16" pos="4320" userDrawn="1">
          <p15:clr>
            <a:srgbClr val="F26B43"/>
          </p15:clr>
        </p15:guide>
        <p15:guide id="17" pos="4560" userDrawn="1">
          <p15:clr>
            <a:srgbClr val="F26B43"/>
          </p15:clr>
        </p15:guide>
        <p15:guide id="18" pos="4896" userDrawn="1">
          <p15:clr>
            <a:srgbClr val="F26B43"/>
          </p15:clr>
        </p15:guide>
        <p15:guide id="19" pos="5136" userDrawn="1">
          <p15:clr>
            <a:srgbClr val="F26B43"/>
          </p15:clr>
        </p15:guide>
        <p15:guide id="20" pos="5496" userDrawn="1">
          <p15:clr>
            <a:srgbClr val="F26B43"/>
          </p15:clr>
        </p15:guide>
        <p15:guide id="21" pos="5736" userDrawn="1">
          <p15:clr>
            <a:srgbClr val="F26B43"/>
          </p15:clr>
        </p15:guide>
        <p15:guide id="22" pos="6072" userDrawn="1">
          <p15:clr>
            <a:srgbClr val="F26B43"/>
          </p15:clr>
        </p15:guide>
        <p15:guide id="23" pos="6312" userDrawn="1">
          <p15:clr>
            <a:srgbClr val="F26B43"/>
          </p15:clr>
        </p15:guide>
        <p15:guide id="24" pos="6672" userDrawn="1">
          <p15:clr>
            <a:srgbClr val="F26B43"/>
          </p15:clr>
        </p15:guide>
        <p15:guide id="25" pos="6912" userDrawn="1">
          <p15:clr>
            <a:srgbClr val="F26B43"/>
          </p15:clr>
        </p15:guide>
        <p15:guide id="26" orient="horz" pos="3888" userDrawn="1">
          <p15:clr>
            <a:srgbClr val="F26B43"/>
          </p15:clr>
        </p15:guide>
        <p15:guide id="27" orient="horz"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BBAB617C-A7C6-DE47-AB0D-FADBA2CA125B}"/>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dirty="0"/>
          </a:p>
        </p:txBody>
      </p:sp>
      <p:sp>
        <p:nvSpPr>
          <p:cNvPr id="7" name="TextBox 6">
            <a:extLst>
              <a:ext uri="{FF2B5EF4-FFF2-40B4-BE49-F238E27FC236}">
                <a16:creationId xmlns:a16="http://schemas.microsoft.com/office/drawing/2014/main" id="{10504B66-DF6C-8480-B0C5-18AE793D23DD}"/>
              </a:ext>
            </a:extLst>
          </p:cNvPr>
          <p:cNvSpPr txBox="1"/>
          <p:nvPr userDrawn="1">
            <p:extLst>
              <p:ext uri="{1162E1C5-73C7-4A58-AE30-91384D911F3F}">
                <p184:classification xmlns:p184="http://schemas.microsoft.com/office/powerpoint/2018/4/main" val="hdr"/>
              </p:ext>
            </p:extLst>
          </p:nvPr>
        </p:nvSpPr>
        <p:spPr>
          <a:xfrm>
            <a:off x="63500" y="63500"/>
            <a:ext cx="1341438"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F8BB24F9-BF7F-CD29-54B5-C81BE1C9B1C8}"/>
              </a:ext>
            </a:extLst>
          </p:cNvPr>
          <p:cNvSpPr txBox="1"/>
          <p:nvPr userDrawn="1">
            <p:extLst>
              <p:ext uri="{1162E1C5-73C7-4A58-AE30-91384D911F3F}">
                <p184:classification xmlns:p184="http://schemas.microsoft.com/office/powerpoint/2018/4/main" val="ftr"/>
              </p:ext>
            </p:extLst>
          </p:nvPr>
        </p:nvSpPr>
        <p:spPr>
          <a:xfrm>
            <a:off x="63500" y="6611620"/>
            <a:ext cx="1341438"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303539961"/>
      </p:ext>
    </p:extLst>
  </p:cSld>
  <p:clrMap bg1="lt1" tx1="dk1" bg2="lt2" tx2="dk2" accent1="accent1" accent2="accent2" accent3="accent3" accent4="accent4" accent5="accent5" accent6="accent6" hlink="hlink" folHlink="folHlink"/>
  <p:sldLayoutIdLst>
    <p:sldLayoutId id="2147483708" r:id="rId1"/>
    <p:sldLayoutId id="2147483916" r:id="rId2"/>
  </p:sldLayoutIdLst>
  <p:hf hdr="0" ftr="0" dt="0"/>
  <p:txStyles>
    <p:titleStyle>
      <a:lvl1pPr algn="l" defTabSz="914400" rtl="0" eaLnBrk="1" latinLnBrk="0" hangingPunct="1">
        <a:lnSpc>
          <a:spcPct val="11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0" indent="0" algn="l" defTabSz="914400" rtl="0" eaLnBrk="1" latinLnBrk="0" hangingPunct="1">
        <a:lnSpc>
          <a:spcPts val="2200"/>
        </a:lnSpc>
        <a:spcBef>
          <a:spcPts val="0"/>
        </a:spcBef>
        <a:buFontTx/>
        <a:buNone/>
        <a:defRPr sz="1400" kern="1200">
          <a:solidFill>
            <a:schemeClr val="tx1"/>
          </a:solidFill>
          <a:latin typeface="+mn-lt"/>
          <a:ea typeface="+mn-ea"/>
          <a:cs typeface="+mn-cs"/>
        </a:defRPr>
      </a:lvl1pPr>
      <a:lvl2pPr marL="171450" indent="-16510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2pPr>
      <a:lvl3pPr marL="34290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3pPr>
      <a:lvl4pPr marL="51435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4pPr>
      <a:lvl5pPr marL="68580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userDrawn="1">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userDrawn="1">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guide id="27" orient="horz" pos="2160" userDrawn="1">
          <p15:clr>
            <a:srgbClr val="F26B43"/>
          </p15:clr>
        </p15:guide>
        <p15:guide id="28" orient="horz" pos="336" userDrawn="1">
          <p15:clr>
            <a:srgbClr val="F26B43"/>
          </p15:clr>
        </p15:guide>
        <p15:guide id="29" orient="horz" pos="1056" userDrawn="1">
          <p15:clr>
            <a:srgbClr val="F26B43"/>
          </p15:clr>
        </p15:guide>
        <p15:guide id="30" orient="horz" pos="12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utkarsh-tripathi/"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github.com/utkarsh199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dasci.org/lattice/" TargetMode="External"/><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hyperlink" Target="https://analyticsindiamag.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6C21D-B89F-1A9A-0E8A-2983E7CA90B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8471BE5-015B-4289-CEA0-7C4A79F16A84}"/>
              </a:ext>
            </a:extLst>
          </p:cNvPr>
          <p:cNvPicPr>
            <a:picLocks noChangeAspect="1"/>
          </p:cNvPicPr>
          <p:nvPr/>
        </p:nvPicPr>
        <p:blipFill>
          <a:blip r:embed="rId3"/>
          <a:srcRect r="913" b="-1"/>
          <a:stretch>
            <a:fillRect/>
          </a:stretch>
        </p:blipFill>
        <p:spPr>
          <a:xfrm>
            <a:off x="20" y="10"/>
            <a:ext cx="12188930" cy="6857990"/>
          </a:xfrm>
          <a:prstGeom prst="rect">
            <a:avLst/>
          </a:prstGeom>
          <a:noFill/>
        </p:spPr>
      </p:pic>
      <p:sp>
        <p:nvSpPr>
          <p:cNvPr id="4" name="Title 3">
            <a:extLst>
              <a:ext uri="{FF2B5EF4-FFF2-40B4-BE49-F238E27FC236}">
                <a16:creationId xmlns:a16="http://schemas.microsoft.com/office/drawing/2014/main" id="{929E82A2-A49C-D213-AD55-696178185CFF}"/>
              </a:ext>
            </a:extLst>
          </p:cNvPr>
          <p:cNvSpPr>
            <a:spLocks noGrp="1"/>
          </p:cNvSpPr>
          <p:nvPr>
            <p:ph type="title"/>
          </p:nvPr>
        </p:nvSpPr>
        <p:spPr>
          <a:xfrm>
            <a:off x="7394945" y="5934456"/>
            <a:ext cx="6319283" cy="749808"/>
          </a:xfrm>
        </p:spPr>
        <p:txBody>
          <a:bodyPr vert="horz" lIns="91440" tIns="45720" rIns="91440" bIns="45720" rtlCol="0" anchor="t">
            <a:normAutofit/>
          </a:bodyPr>
          <a:lstStyle/>
          <a:p>
            <a:r>
              <a:rPr lang="en-US" sz="4000" b="1" dirty="0">
                <a:solidFill>
                  <a:schemeClr val="bg1"/>
                </a:solidFill>
              </a:rPr>
              <a:t>Profile Overview</a:t>
            </a:r>
          </a:p>
        </p:txBody>
      </p:sp>
      <p:sp>
        <p:nvSpPr>
          <p:cNvPr id="10" name="Slide Number Placeholder 9">
            <a:extLst>
              <a:ext uri="{FF2B5EF4-FFF2-40B4-BE49-F238E27FC236}">
                <a16:creationId xmlns:a16="http://schemas.microsoft.com/office/drawing/2014/main" id="{FD354C04-FF96-0039-1364-EEF02D4F3406}"/>
              </a:ext>
            </a:extLst>
          </p:cNvPr>
          <p:cNvSpPr>
            <a:spLocks noGrp="1"/>
          </p:cNvSpPr>
          <p:nvPr>
            <p:ph type="sldNum" sz="quarter" idx="12"/>
          </p:nvPr>
        </p:nvSpPr>
        <p:spPr>
          <a:xfrm>
            <a:off x="11228832" y="6309360"/>
            <a:ext cx="274320" cy="92333"/>
          </a:xfrm>
        </p:spPr>
        <p:txBody>
          <a:bodyPr vert="horz" lIns="91440" tIns="45720" rIns="91440" bIns="45720" rtlCol="0" anchor="ctr">
            <a:normAutofit fontScale="25000" lnSpcReduction="20000"/>
          </a:bodyPr>
          <a:lstStyle/>
          <a:p>
            <a:pPr>
              <a:lnSpc>
                <a:spcPct val="90000"/>
              </a:lnSpc>
              <a:spcAft>
                <a:spcPts val="600"/>
              </a:spcAft>
              <a:defRPr/>
            </a:pPr>
            <a:fld id="{58B792A5-9BAE-6942-BFE1-9FCDB51EA51E}" type="slidenum">
              <a:rPr lang="en-US" sz="200"/>
              <a:pPr>
                <a:lnSpc>
                  <a:spcPct val="90000"/>
                </a:lnSpc>
                <a:spcAft>
                  <a:spcPts val="600"/>
                </a:spcAft>
                <a:defRPr/>
              </a:pPr>
              <a:t>1</a:t>
            </a:fld>
            <a:endParaRPr lang="en-US" sz="200"/>
          </a:p>
        </p:txBody>
      </p:sp>
    </p:spTree>
    <p:extLst>
      <p:ext uri="{BB962C8B-B14F-4D97-AF65-F5344CB8AC3E}">
        <p14:creationId xmlns:p14="http://schemas.microsoft.com/office/powerpoint/2010/main" val="9479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B9F33E7-5433-A34C-9035-F870937397F3}"/>
              </a:ext>
            </a:extLst>
          </p:cNvPr>
          <p:cNvSpPr>
            <a:spLocks noGrp="1"/>
          </p:cNvSpPr>
          <p:nvPr>
            <p:ph type="body" sz="quarter" idx="13"/>
          </p:nvPr>
        </p:nvSpPr>
        <p:spPr>
          <a:xfrm>
            <a:off x="-457200" y="1530089"/>
            <a:ext cx="7144800" cy="3179633"/>
          </a:xfrm>
        </p:spPr>
        <p:txBody>
          <a:bodyPr/>
          <a:lstStyle/>
          <a:p>
            <a:pPr algn="ctr">
              <a:buNone/>
            </a:pPr>
            <a:r>
              <a:rPr lang="en-US" b="1" dirty="0"/>
              <a:t>Profile:</a:t>
            </a:r>
          </a:p>
          <a:p>
            <a:pPr algn="ctr">
              <a:buNone/>
            </a:pPr>
            <a:endParaRPr lang="en-US" b="1" dirty="0"/>
          </a:p>
          <a:p>
            <a:pPr algn="ctr">
              <a:buNone/>
            </a:pPr>
            <a:r>
              <a:rPr lang="en-US" b="1" dirty="0"/>
              <a:t>Name</a:t>
            </a:r>
            <a:r>
              <a:rPr lang="en-US" dirty="0"/>
              <a:t>: Utkarsh Tripathi</a:t>
            </a:r>
          </a:p>
          <a:p>
            <a:pPr algn="ctr">
              <a:buNone/>
            </a:pPr>
            <a:r>
              <a:rPr lang="en-US" b="1" dirty="0"/>
              <a:t>Organization</a:t>
            </a:r>
            <a:r>
              <a:rPr lang="en-US" dirty="0"/>
              <a:t>: Micron Technology</a:t>
            </a:r>
          </a:p>
          <a:p>
            <a:pPr algn="ctr">
              <a:buNone/>
            </a:pPr>
            <a:r>
              <a:rPr lang="en-US" b="1" dirty="0"/>
              <a:t>Location</a:t>
            </a:r>
            <a:r>
              <a:rPr lang="en-US" dirty="0"/>
              <a:t>: Hyderabad</a:t>
            </a:r>
          </a:p>
          <a:p>
            <a:pPr algn="ctr">
              <a:buNone/>
            </a:pPr>
            <a:r>
              <a:rPr lang="en-US" b="1" dirty="0"/>
              <a:t>Designation: </a:t>
            </a:r>
            <a:r>
              <a:rPr lang="en-US" dirty="0"/>
              <a:t>Principal Data Scientist</a:t>
            </a:r>
          </a:p>
          <a:p>
            <a:pPr algn="ctr">
              <a:buNone/>
            </a:pPr>
            <a:r>
              <a:rPr lang="en-US" b="1" dirty="0"/>
              <a:t>Experience</a:t>
            </a:r>
            <a:r>
              <a:rPr lang="en-US" dirty="0"/>
              <a:t>: 11+ years</a:t>
            </a:r>
          </a:p>
          <a:p>
            <a:pPr algn="ctr">
              <a:buNone/>
            </a:pPr>
            <a:r>
              <a:rPr lang="en-US" b="1" dirty="0"/>
              <a:t>Education</a:t>
            </a:r>
            <a:r>
              <a:rPr lang="en-US" dirty="0"/>
              <a:t>: </a:t>
            </a:r>
          </a:p>
          <a:p>
            <a:pPr algn="ctr">
              <a:buNone/>
            </a:pPr>
            <a:r>
              <a:rPr lang="en-US" dirty="0"/>
              <a:t>Bachelor of Engineering, ECE, IPS Academy</a:t>
            </a:r>
          </a:p>
          <a:p>
            <a:pPr algn="ctr">
              <a:buNone/>
            </a:pPr>
            <a:r>
              <a:rPr lang="en-US" dirty="0"/>
              <a:t>PG Diploma in AI &amp; ML from IIIT-Bangalore</a:t>
            </a:r>
          </a:p>
          <a:p>
            <a:pPr algn="ctr">
              <a:buNone/>
            </a:pPr>
            <a:r>
              <a:rPr lang="en-US" dirty="0"/>
              <a:t>MS in AI &amp; ML from Liverpool John Moore's University</a:t>
            </a:r>
          </a:p>
        </p:txBody>
      </p:sp>
      <p:sp>
        <p:nvSpPr>
          <p:cNvPr id="10" name="Slide Number Placeholder 9">
            <a:extLst>
              <a:ext uri="{FF2B5EF4-FFF2-40B4-BE49-F238E27FC236}">
                <a16:creationId xmlns:a16="http://schemas.microsoft.com/office/drawing/2014/main" id="{A219697A-4AC4-E141-80C5-2BB0D50E5BDE}"/>
              </a:ext>
            </a:extLst>
          </p:cNvPr>
          <p:cNvSpPr>
            <a:spLocks noGrp="1"/>
          </p:cNvSpPr>
          <p:nvPr>
            <p:ph type="sldNum" sz="quarter" idx="14"/>
          </p:nvPr>
        </p:nvSpPr>
        <p:spPr/>
        <p:txBody>
          <a:bodyPr/>
          <a:lstStyle/>
          <a:p>
            <a:fld id="{58B792A5-9BAE-6942-BFE1-9FCDB51EA51E}" type="slidenum">
              <a:rPr lang="en-US" smtClean="0"/>
              <a:pPr/>
              <a:t>2</a:t>
            </a:fld>
            <a:endParaRPr lang="en-US" dirty="0"/>
          </a:p>
        </p:txBody>
      </p:sp>
      <p:sp>
        <p:nvSpPr>
          <p:cNvPr id="8" name="Text Placeholder 4">
            <a:extLst>
              <a:ext uri="{FF2B5EF4-FFF2-40B4-BE49-F238E27FC236}">
                <a16:creationId xmlns:a16="http://schemas.microsoft.com/office/drawing/2014/main" id="{0B9F33E7-5433-A34C-9035-F870937397F3}"/>
              </a:ext>
            </a:extLst>
          </p:cNvPr>
          <p:cNvSpPr txBox="1">
            <a:spLocks/>
          </p:cNvSpPr>
          <p:nvPr/>
        </p:nvSpPr>
        <p:spPr>
          <a:xfrm>
            <a:off x="5911703" y="2110235"/>
            <a:ext cx="6166883" cy="2314101"/>
          </a:xfrm>
          <a:prstGeom prst="rect">
            <a:avLst/>
          </a:prstGeom>
        </p:spPr>
        <p:txBody>
          <a:bodyPr vert="horz" lIns="0" tIns="0" rIns="0" bIns="0" rtlCol="0" anchor="ctr" anchorCtr="0">
            <a:noAutofit/>
          </a:bodyPr>
          <a:lstStyle>
            <a:lvl1pPr marL="0" indent="0" algn="l" defTabSz="914400" rtl="0" eaLnBrk="1" latinLnBrk="0" hangingPunct="1">
              <a:lnSpc>
                <a:spcPts val="2200"/>
              </a:lnSpc>
              <a:spcBef>
                <a:spcPts val="0"/>
              </a:spcBef>
              <a:buFontTx/>
              <a:buAutoNum type="arabicPeriod"/>
              <a:defRPr sz="1400" kern="1200">
                <a:solidFill>
                  <a:schemeClr val="tx1"/>
                </a:solidFill>
                <a:latin typeface="+mn-lt"/>
                <a:ea typeface="+mn-ea"/>
                <a:cs typeface="+mn-cs"/>
              </a:defRPr>
            </a:lvl1pPr>
            <a:lvl2pPr marL="171450" indent="-16510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2pPr>
            <a:lvl3pPr marL="342900" indent="-171450" algn="l" defTabSz="914400" rtl="0" eaLnBrk="1" latinLnBrk="0" hangingPunct="1">
              <a:lnSpc>
                <a:spcPts val="2200"/>
              </a:lnSpc>
              <a:spcBef>
                <a:spcPts val="0"/>
              </a:spcBef>
              <a:buFont typeface="Arial" panose="020B0604020202020204" pitchFamily="34" charset="0"/>
              <a:buAutoNum type="arabicPeriod"/>
              <a:tabLst/>
              <a:defRPr sz="1400" kern="1200">
                <a:solidFill>
                  <a:schemeClr val="tx1"/>
                </a:solidFill>
                <a:latin typeface="+mn-lt"/>
                <a:ea typeface="+mn-ea"/>
                <a:cs typeface="+mn-cs"/>
              </a:defRPr>
            </a:lvl3pPr>
            <a:lvl4pPr marL="514350" indent="-171450" algn="l" defTabSz="914400" rtl="0" eaLnBrk="1" latinLnBrk="0" hangingPunct="1">
              <a:lnSpc>
                <a:spcPts val="2200"/>
              </a:lnSpc>
              <a:spcBef>
                <a:spcPts val="0"/>
              </a:spcBef>
              <a:buFont typeface="Arial" panose="020B0604020202020204" pitchFamily="34" charset="0"/>
              <a:buAutoNum type="arabicPeriod"/>
              <a:tabLst/>
              <a:defRPr sz="1400" kern="1200">
                <a:solidFill>
                  <a:schemeClr val="tx1"/>
                </a:solidFill>
                <a:latin typeface="+mn-lt"/>
                <a:ea typeface="+mn-ea"/>
                <a:cs typeface="+mn-cs"/>
              </a:defRPr>
            </a:lvl4pPr>
            <a:lvl5pPr marL="68580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b="1" dirty="0"/>
              <a:t>Organizations Worked:</a:t>
            </a:r>
          </a:p>
          <a:p>
            <a:pPr algn="ctr">
              <a:buFontTx/>
              <a:buNone/>
            </a:pPr>
            <a:endParaRPr lang="en-US" b="1" dirty="0"/>
          </a:p>
          <a:p>
            <a:pPr algn="ctr">
              <a:buFontTx/>
              <a:buNone/>
            </a:pPr>
            <a:r>
              <a:rPr lang="en-US" b="1" dirty="0"/>
              <a:t>Robert Bosch</a:t>
            </a:r>
            <a:r>
              <a:rPr lang="en-US" dirty="0"/>
              <a:t>: Oct 2014 – Feb 2018</a:t>
            </a:r>
          </a:p>
          <a:p>
            <a:pPr algn="ctr">
              <a:buFontTx/>
              <a:buNone/>
            </a:pPr>
            <a:r>
              <a:rPr lang="en-US" b="1" dirty="0"/>
              <a:t>Times Internet</a:t>
            </a:r>
            <a:r>
              <a:rPr lang="en-US" dirty="0"/>
              <a:t>: Mar 2018 – Nov 2018</a:t>
            </a:r>
          </a:p>
          <a:p>
            <a:pPr algn="ctr">
              <a:buNone/>
            </a:pPr>
            <a:r>
              <a:rPr lang="en-US" b="1" dirty="0"/>
              <a:t>Publicis Sapient</a:t>
            </a:r>
            <a:r>
              <a:rPr lang="en-US" dirty="0"/>
              <a:t>: Dec 2018 – May 2020</a:t>
            </a:r>
          </a:p>
          <a:p>
            <a:pPr algn="ctr">
              <a:buNone/>
            </a:pPr>
            <a:r>
              <a:rPr lang="en-US" b="1" dirty="0"/>
              <a:t>Fidelity International</a:t>
            </a:r>
            <a:r>
              <a:rPr lang="en-US" dirty="0"/>
              <a:t>: May 2020 – April 2021</a:t>
            </a:r>
          </a:p>
          <a:p>
            <a:pPr algn="ctr">
              <a:buNone/>
            </a:pPr>
            <a:r>
              <a:rPr lang="en-US" b="1" dirty="0"/>
              <a:t>Micron Technology</a:t>
            </a:r>
            <a:r>
              <a:rPr lang="en-US" dirty="0"/>
              <a:t>: April 2021- Present</a:t>
            </a:r>
          </a:p>
          <a:p>
            <a:pPr algn="ctr">
              <a:buNone/>
            </a:pPr>
            <a:endParaRPr lang="en-US" dirty="0"/>
          </a:p>
          <a:p>
            <a:pPr algn="ctr">
              <a:buNone/>
            </a:pPr>
            <a:r>
              <a:rPr lang="en-US" b="1" dirty="0"/>
              <a:t>Chegg Inc. - Subject Matter Expert Statistics and Probability (part-time):</a:t>
            </a:r>
            <a:r>
              <a:rPr lang="en-US" dirty="0"/>
              <a:t> April 2018 – Dec 2019</a:t>
            </a:r>
          </a:p>
          <a:p>
            <a:pPr algn="ctr">
              <a:buNone/>
            </a:pPr>
            <a:endParaRPr lang="en-US" dirty="0"/>
          </a:p>
          <a:p>
            <a:pPr algn="ctr">
              <a:buNone/>
            </a:pPr>
            <a:endParaRPr lang="en-US" dirty="0"/>
          </a:p>
        </p:txBody>
      </p:sp>
      <p:sp>
        <p:nvSpPr>
          <p:cNvPr id="3" name="TextBox 2">
            <a:extLst>
              <a:ext uri="{FF2B5EF4-FFF2-40B4-BE49-F238E27FC236}">
                <a16:creationId xmlns:a16="http://schemas.microsoft.com/office/drawing/2014/main" id="{35A851C1-EFFE-4BC9-2564-576225FD2C37}"/>
              </a:ext>
            </a:extLst>
          </p:cNvPr>
          <p:cNvSpPr txBox="1"/>
          <p:nvPr/>
        </p:nvSpPr>
        <p:spPr>
          <a:xfrm>
            <a:off x="126100" y="374091"/>
            <a:ext cx="11686672" cy="923330"/>
          </a:xfrm>
          <a:prstGeom prst="rect">
            <a:avLst/>
          </a:prstGeom>
          <a:noFill/>
        </p:spPr>
        <p:txBody>
          <a:bodyPr wrap="square">
            <a:spAutoFit/>
          </a:bodyPr>
          <a:lstStyle/>
          <a:p>
            <a:r>
              <a:rPr lang="en-US" dirty="0"/>
              <a:t>Seasoned Data Scientist with 11 years of experience in enabling data led decision making. Passionate about telling stories from data. Keen to utilize my analytics solution building exposure in enabling business transformation</a:t>
            </a:r>
          </a:p>
        </p:txBody>
      </p:sp>
      <p:sp>
        <p:nvSpPr>
          <p:cNvPr id="12" name="TextBox 11">
            <a:extLst>
              <a:ext uri="{FF2B5EF4-FFF2-40B4-BE49-F238E27FC236}">
                <a16:creationId xmlns:a16="http://schemas.microsoft.com/office/drawing/2014/main" id="{D613C59E-D4E7-4F76-06E5-22328D6A3E47}"/>
              </a:ext>
            </a:extLst>
          </p:cNvPr>
          <p:cNvSpPr txBox="1"/>
          <p:nvPr/>
        </p:nvSpPr>
        <p:spPr>
          <a:xfrm>
            <a:off x="2791609" y="5694374"/>
            <a:ext cx="6858000" cy="923330"/>
          </a:xfrm>
          <a:prstGeom prst="rect">
            <a:avLst/>
          </a:prstGeom>
        </p:spPr>
        <p:txBody>
          <a:bodyPr vert="horz" lIns="0" tIns="0" rIns="0" bIns="0" rtlCol="0" anchor="ctr" anchorCtr="0">
            <a:noAutofit/>
          </a:bodyPr>
          <a:lstStyle>
            <a:lvl1pPr indent="0" algn="ctr">
              <a:lnSpc>
                <a:spcPts val="2200"/>
              </a:lnSpc>
              <a:spcBef>
                <a:spcPts val="0"/>
              </a:spcBef>
              <a:buFontTx/>
              <a:buNone/>
              <a:defRPr sz="1400" b="1"/>
            </a:lvl1pPr>
            <a:lvl2pPr marL="171450" indent="-165100">
              <a:lnSpc>
                <a:spcPts val="2200"/>
              </a:lnSpc>
              <a:spcBef>
                <a:spcPts val="0"/>
              </a:spcBef>
              <a:buFont typeface="Arial" panose="020B0604020202020204" pitchFamily="34" charset="0"/>
              <a:buChar char="•"/>
              <a:tabLst/>
              <a:defRPr sz="1400"/>
            </a:lvl2pPr>
            <a:lvl3pPr marL="342900" indent="-171450">
              <a:lnSpc>
                <a:spcPts val="2200"/>
              </a:lnSpc>
              <a:spcBef>
                <a:spcPts val="0"/>
              </a:spcBef>
              <a:buFont typeface="Arial" panose="020B0604020202020204" pitchFamily="34" charset="0"/>
              <a:buAutoNum type="arabicPeriod"/>
              <a:tabLst/>
              <a:defRPr sz="1400"/>
            </a:lvl3pPr>
            <a:lvl4pPr marL="514350" indent="-171450">
              <a:lnSpc>
                <a:spcPts val="2200"/>
              </a:lnSpc>
              <a:spcBef>
                <a:spcPts val="0"/>
              </a:spcBef>
              <a:buFont typeface="Arial" panose="020B0604020202020204" pitchFamily="34" charset="0"/>
              <a:buAutoNum type="arabicPeriod"/>
              <a:tabLst/>
              <a:defRPr sz="1400"/>
            </a:lvl4pPr>
            <a:lvl5pPr marL="685800" indent="-171450">
              <a:lnSpc>
                <a:spcPts val="2200"/>
              </a:lnSpc>
              <a:spcBef>
                <a:spcPts val="0"/>
              </a:spcBef>
              <a:buFont typeface="Arial" panose="020B0604020202020204" pitchFamily="34" charset="0"/>
              <a:buChar char="•"/>
              <a:tabLst/>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Profile Link</a:t>
            </a:r>
          </a:p>
          <a:p>
            <a:endParaRPr lang="en-US" dirty="0"/>
          </a:p>
          <a:p>
            <a:r>
              <a:rPr lang="en-US" dirty="0"/>
              <a:t>LinkedIn: </a:t>
            </a:r>
            <a:r>
              <a:rPr lang="en-US" dirty="0">
                <a:hlinkClick r:id="rId3"/>
              </a:rPr>
              <a:t>https://www.linkedin.com/in/utkarsh-tripathi/</a:t>
            </a:r>
            <a:endParaRPr lang="en-US" dirty="0"/>
          </a:p>
          <a:p>
            <a:endParaRPr lang="en-US" dirty="0"/>
          </a:p>
          <a:p>
            <a:r>
              <a:rPr lang="en-US" dirty="0"/>
              <a:t>GitHub: </a:t>
            </a:r>
            <a:r>
              <a:rPr lang="en-US" dirty="0">
                <a:hlinkClick r:id="rId4"/>
              </a:rPr>
              <a:t>https://github.com/utkarsh1993</a:t>
            </a:r>
            <a:r>
              <a:rPr lang="en-US" dirty="0"/>
              <a:t> </a:t>
            </a:r>
          </a:p>
          <a:p>
            <a:endParaRPr lang="en-US" dirty="0"/>
          </a:p>
          <a:p>
            <a:r>
              <a:rPr lang="en-US" dirty="0"/>
              <a:t> </a:t>
            </a:r>
          </a:p>
        </p:txBody>
      </p:sp>
      <p:sp>
        <p:nvSpPr>
          <p:cNvPr id="2" name="TextBox 1">
            <a:extLst>
              <a:ext uri="{FF2B5EF4-FFF2-40B4-BE49-F238E27FC236}">
                <a16:creationId xmlns:a16="http://schemas.microsoft.com/office/drawing/2014/main" id="{A3212ED6-8BCB-051F-2C68-EA88971B6E86}"/>
              </a:ext>
            </a:extLst>
          </p:cNvPr>
          <p:cNvSpPr txBox="1"/>
          <p:nvPr/>
        </p:nvSpPr>
        <p:spPr>
          <a:xfrm>
            <a:off x="0" y="0"/>
            <a:ext cx="1520456" cy="369332"/>
          </a:xfrm>
          <a:prstGeom prst="rect">
            <a:avLst/>
          </a:prstGeom>
          <a:solidFill>
            <a:schemeClr val="bg1"/>
          </a:solidFill>
        </p:spPr>
        <p:txBody>
          <a:bodyPr wrap="square" rtlCol="0">
            <a:spAutoFit/>
          </a:bodyPr>
          <a:lstStyle/>
          <a:p>
            <a:endParaRPr lang="en-US" dirty="0"/>
          </a:p>
        </p:txBody>
      </p:sp>
      <p:sp>
        <p:nvSpPr>
          <p:cNvPr id="4" name="TextBox 3">
            <a:extLst>
              <a:ext uri="{FF2B5EF4-FFF2-40B4-BE49-F238E27FC236}">
                <a16:creationId xmlns:a16="http://schemas.microsoft.com/office/drawing/2014/main" id="{8D8EF195-CBC7-7DB3-88B8-3BB3057879D4}"/>
              </a:ext>
            </a:extLst>
          </p:cNvPr>
          <p:cNvSpPr txBox="1"/>
          <p:nvPr/>
        </p:nvSpPr>
        <p:spPr>
          <a:xfrm>
            <a:off x="0" y="6433038"/>
            <a:ext cx="152045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750218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3488-2BEA-2E9D-8091-4CBE6E47049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ADFBD2C-176E-9876-1988-B4BF650675BC}"/>
              </a:ext>
            </a:extLst>
          </p:cNvPr>
          <p:cNvPicPr>
            <a:picLocks noChangeAspect="1"/>
          </p:cNvPicPr>
          <p:nvPr/>
        </p:nvPicPr>
        <p:blipFill>
          <a:blip r:embed="rId3"/>
          <a:srcRect r="913" b="-1"/>
          <a:stretch>
            <a:fillRect/>
          </a:stretch>
        </p:blipFill>
        <p:spPr>
          <a:xfrm>
            <a:off x="20" y="10"/>
            <a:ext cx="12188930" cy="6857990"/>
          </a:xfrm>
          <a:prstGeom prst="rect">
            <a:avLst/>
          </a:prstGeom>
          <a:noFill/>
        </p:spPr>
      </p:pic>
      <p:sp>
        <p:nvSpPr>
          <p:cNvPr id="4" name="Title 3">
            <a:extLst>
              <a:ext uri="{FF2B5EF4-FFF2-40B4-BE49-F238E27FC236}">
                <a16:creationId xmlns:a16="http://schemas.microsoft.com/office/drawing/2014/main" id="{58B0518B-C0A8-5B75-8309-9B28DEB03C31}"/>
              </a:ext>
            </a:extLst>
          </p:cNvPr>
          <p:cNvSpPr>
            <a:spLocks noGrp="1"/>
          </p:cNvSpPr>
          <p:nvPr>
            <p:ph type="title"/>
          </p:nvPr>
        </p:nvSpPr>
        <p:spPr>
          <a:xfrm>
            <a:off x="7394945" y="5934456"/>
            <a:ext cx="6319283" cy="749808"/>
          </a:xfrm>
        </p:spPr>
        <p:txBody>
          <a:bodyPr vert="horz" lIns="91440" tIns="45720" rIns="91440" bIns="45720" rtlCol="0" anchor="t">
            <a:normAutofit/>
          </a:bodyPr>
          <a:lstStyle/>
          <a:p>
            <a:r>
              <a:rPr lang="en-US" sz="4000" b="1" dirty="0">
                <a:solidFill>
                  <a:schemeClr val="bg1"/>
                </a:solidFill>
              </a:rPr>
              <a:t>Agenda</a:t>
            </a:r>
          </a:p>
        </p:txBody>
      </p:sp>
      <p:sp>
        <p:nvSpPr>
          <p:cNvPr id="10" name="Slide Number Placeholder 9">
            <a:extLst>
              <a:ext uri="{FF2B5EF4-FFF2-40B4-BE49-F238E27FC236}">
                <a16:creationId xmlns:a16="http://schemas.microsoft.com/office/drawing/2014/main" id="{5A243823-8ECD-A11C-79E6-5CD326BF3BA4}"/>
              </a:ext>
            </a:extLst>
          </p:cNvPr>
          <p:cNvSpPr>
            <a:spLocks noGrp="1"/>
          </p:cNvSpPr>
          <p:nvPr>
            <p:ph type="sldNum" sz="quarter" idx="12"/>
          </p:nvPr>
        </p:nvSpPr>
        <p:spPr>
          <a:xfrm>
            <a:off x="11228832" y="6309360"/>
            <a:ext cx="274320" cy="92333"/>
          </a:xfrm>
        </p:spPr>
        <p:txBody>
          <a:bodyPr vert="horz" lIns="91440" tIns="45720" rIns="91440" bIns="45720" rtlCol="0" anchor="ctr">
            <a:normAutofit fontScale="25000" lnSpcReduction="20000"/>
          </a:bodyPr>
          <a:lstStyle/>
          <a:p>
            <a:pPr>
              <a:lnSpc>
                <a:spcPct val="90000"/>
              </a:lnSpc>
              <a:spcAft>
                <a:spcPts val="600"/>
              </a:spcAft>
              <a:defRPr/>
            </a:pPr>
            <a:fld id="{58B792A5-9BAE-6942-BFE1-9FCDB51EA51E}" type="slidenum">
              <a:rPr lang="en-US" sz="200"/>
              <a:pPr>
                <a:lnSpc>
                  <a:spcPct val="90000"/>
                </a:lnSpc>
                <a:spcAft>
                  <a:spcPts val="600"/>
                </a:spcAft>
                <a:defRPr/>
              </a:pPr>
              <a:t>3</a:t>
            </a:fld>
            <a:endParaRPr lang="en-US" sz="200"/>
          </a:p>
        </p:txBody>
      </p:sp>
    </p:spTree>
    <p:extLst>
      <p:ext uri="{BB962C8B-B14F-4D97-AF65-F5344CB8AC3E}">
        <p14:creationId xmlns:p14="http://schemas.microsoft.com/office/powerpoint/2010/main" val="185581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B9F33E7-5433-A34C-9035-F870937397F3}"/>
              </a:ext>
            </a:extLst>
          </p:cNvPr>
          <p:cNvSpPr>
            <a:spLocks noGrp="1"/>
          </p:cNvSpPr>
          <p:nvPr>
            <p:ph type="body" sz="quarter" idx="13"/>
          </p:nvPr>
        </p:nvSpPr>
        <p:spPr>
          <a:xfrm>
            <a:off x="411480" y="22154"/>
            <a:ext cx="10817352" cy="4572000"/>
          </a:xfrm>
        </p:spPr>
        <p:txBody>
          <a:bodyPr/>
          <a:lstStyle/>
          <a:p>
            <a:endParaRPr lang="en-US" dirty="0"/>
          </a:p>
          <a:p>
            <a:endParaRPr lang="en-US" dirty="0"/>
          </a:p>
          <a:p>
            <a:pPr marL="285750" indent="-285750">
              <a:buFont typeface="Arial" panose="020B0604020202020204" pitchFamily="34" charset="0"/>
              <a:buChar char="•"/>
            </a:pPr>
            <a:r>
              <a:rPr lang="en-US" b="1" dirty="0"/>
              <a:t>Achievements and Extra-Curricular Activities</a:t>
            </a:r>
          </a:p>
          <a:p>
            <a:pPr marL="285750" indent="-285750">
              <a:buFont typeface="Arial" panose="020B0604020202020204" pitchFamily="34" charset="0"/>
              <a:buChar char="•"/>
            </a:pPr>
            <a:r>
              <a:rPr lang="en-US" b="1" dirty="0"/>
              <a:t>AI &amp; ML Projects</a:t>
            </a:r>
          </a:p>
          <a:p>
            <a:pPr marL="633413" lvl="1" indent="-285750">
              <a:buFont typeface="Courier New" panose="02070309020205020404" pitchFamily="49" charset="0"/>
              <a:buChar char="o"/>
            </a:pPr>
            <a:r>
              <a:rPr lang="en-US" b="1" dirty="0"/>
              <a:t>Cost 360 Assistant </a:t>
            </a:r>
          </a:p>
          <a:p>
            <a:pPr marL="633413" lvl="1" indent="-285750">
              <a:buFont typeface="Courier New" panose="02070309020205020404" pitchFamily="49" charset="0"/>
              <a:buChar char="o"/>
            </a:pPr>
            <a:r>
              <a:rPr lang="en-US" b="1" dirty="0"/>
              <a:t>Text2SQL using RAG</a:t>
            </a:r>
          </a:p>
          <a:p>
            <a:pPr marL="633413" lvl="1" indent="-285750">
              <a:buFont typeface="Courier New" panose="02070309020205020404" pitchFamily="49" charset="0"/>
              <a:buChar char="o"/>
            </a:pPr>
            <a:r>
              <a:rPr lang="en-US" b="1" dirty="0"/>
              <a:t>Attrition Predictor</a:t>
            </a:r>
          </a:p>
          <a:p>
            <a:pPr marL="633413" lvl="1" indent="-285750">
              <a:buFont typeface="Courier New" panose="02070309020205020404" pitchFamily="49" charset="0"/>
              <a:buChar char="o"/>
            </a:pPr>
            <a:r>
              <a:rPr lang="en-US" b="1" dirty="0"/>
              <a:t>Ad Unit Segmentation</a:t>
            </a:r>
          </a:p>
        </p:txBody>
      </p:sp>
      <p:sp>
        <p:nvSpPr>
          <p:cNvPr id="10" name="Slide Number Placeholder 9">
            <a:extLst>
              <a:ext uri="{FF2B5EF4-FFF2-40B4-BE49-F238E27FC236}">
                <a16:creationId xmlns:a16="http://schemas.microsoft.com/office/drawing/2014/main" id="{A219697A-4AC4-E141-80C5-2BB0D50E5BDE}"/>
              </a:ext>
            </a:extLst>
          </p:cNvPr>
          <p:cNvSpPr>
            <a:spLocks noGrp="1"/>
          </p:cNvSpPr>
          <p:nvPr>
            <p:ph type="sldNum" sz="quarter" idx="14"/>
          </p:nvPr>
        </p:nvSpPr>
        <p:spPr/>
        <p:txBody>
          <a:bodyPr/>
          <a:lstStyle/>
          <a:p>
            <a:fld id="{58B792A5-9BAE-6942-BFE1-9FCDB51EA51E}" type="slidenum">
              <a:rPr lang="en-US" smtClean="0"/>
              <a:pPr/>
              <a:t>4</a:t>
            </a:fld>
            <a:endParaRPr lang="en-US" dirty="0"/>
          </a:p>
        </p:txBody>
      </p:sp>
      <p:sp>
        <p:nvSpPr>
          <p:cNvPr id="2" name="TextBox 1">
            <a:extLst>
              <a:ext uri="{FF2B5EF4-FFF2-40B4-BE49-F238E27FC236}">
                <a16:creationId xmlns:a16="http://schemas.microsoft.com/office/drawing/2014/main" id="{9FA8F6E6-03A7-67B1-3F32-B8A01C159A32}"/>
              </a:ext>
            </a:extLst>
          </p:cNvPr>
          <p:cNvSpPr txBox="1"/>
          <p:nvPr/>
        </p:nvSpPr>
        <p:spPr>
          <a:xfrm>
            <a:off x="0" y="0"/>
            <a:ext cx="1520456" cy="369332"/>
          </a:xfrm>
          <a:prstGeom prst="rect">
            <a:avLst/>
          </a:prstGeom>
          <a:solidFill>
            <a:schemeClr val="bg1"/>
          </a:solidFill>
        </p:spPr>
        <p:txBody>
          <a:bodyPr wrap="square" rtlCol="0">
            <a:spAutoFit/>
          </a:bodyPr>
          <a:lstStyle/>
          <a:p>
            <a:endParaRPr lang="en-US" dirty="0"/>
          </a:p>
        </p:txBody>
      </p:sp>
      <p:sp>
        <p:nvSpPr>
          <p:cNvPr id="3" name="TextBox 2">
            <a:extLst>
              <a:ext uri="{FF2B5EF4-FFF2-40B4-BE49-F238E27FC236}">
                <a16:creationId xmlns:a16="http://schemas.microsoft.com/office/drawing/2014/main" id="{DB8F9F61-7719-418F-0D1D-8347DE8E0021}"/>
              </a:ext>
            </a:extLst>
          </p:cNvPr>
          <p:cNvSpPr txBox="1"/>
          <p:nvPr/>
        </p:nvSpPr>
        <p:spPr>
          <a:xfrm>
            <a:off x="0" y="6488668"/>
            <a:ext cx="152045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368075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B83D-263A-6C40-C2E5-22083725041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A123E1E-84F6-1C3C-75B5-0C86A0894392}"/>
              </a:ext>
            </a:extLst>
          </p:cNvPr>
          <p:cNvPicPr>
            <a:picLocks noChangeAspect="1"/>
          </p:cNvPicPr>
          <p:nvPr/>
        </p:nvPicPr>
        <p:blipFill>
          <a:blip r:embed="rId3"/>
          <a:srcRect r="913" b="-1"/>
          <a:stretch>
            <a:fillRect/>
          </a:stretch>
        </p:blipFill>
        <p:spPr>
          <a:xfrm>
            <a:off x="20" y="10"/>
            <a:ext cx="12188930" cy="6857990"/>
          </a:xfrm>
          <a:prstGeom prst="rect">
            <a:avLst/>
          </a:prstGeom>
          <a:noFill/>
        </p:spPr>
      </p:pic>
      <p:sp>
        <p:nvSpPr>
          <p:cNvPr id="4" name="Title 3">
            <a:extLst>
              <a:ext uri="{FF2B5EF4-FFF2-40B4-BE49-F238E27FC236}">
                <a16:creationId xmlns:a16="http://schemas.microsoft.com/office/drawing/2014/main" id="{A4ADFC5C-E4ED-890B-5A6B-5D2FD9D8A026}"/>
              </a:ext>
            </a:extLst>
          </p:cNvPr>
          <p:cNvSpPr>
            <a:spLocks noGrp="1"/>
          </p:cNvSpPr>
          <p:nvPr>
            <p:ph type="title"/>
          </p:nvPr>
        </p:nvSpPr>
        <p:spPr>
          <a:xfrm>
            <a:off x="5188687" y="5092910"/>
            <a:ext cx="6879265" cy="1520285"/>
          </a:xfrm>
        </p:spPr>
        <p:txBody>
          <a:bodyPr vert="horz" lIns="91440" tIns="45720" rIns="91440" bIns="45720" rtlCol="0" anchor="t">
            <a:normAutofit/>
          </a:bodyPr>
          <a:lstStyle/>
          <a:p>
            <a:r>
              <a:rPr lang="en-US" sz="4000" b="1" dirty="0">
                <a:solidFill>
                  <a:schemeClr val="bg1"/>
                </a:solidFill>
              </a:rPr>
              <a:t>Achievements and Extra-Curricular Activities</a:t>
            </a:r>
          </a:p>
        </p:txBody>
      </p:sp>
      <p:sp>
        <p:nvSpPr>
          <p:cNvPr id="10" name="Slide Number Placeholder 9">
            <a:extLst>
              <a:ext uri="{FF2B5EF4-FFF2-40B4-BE49-F238E27FC236}">
                <a16:creationId xmlns:a16="http://schemas.microsoft.com/office/drawing/2014/main" id="{FC9E5EB2-E993-D830-A596-9F05BC65AEB9}"/>
              </a:ext>
            </a:extLst>
          </p:cNvPr>
          <p:cNvSpPr>
            <a:spLocks noGrp="1"/>
          </p:cNvSpPr>
          <p:nvPr>
            <p:ph type="sldNum" sz="quarter" idx="12"/>
          </p:nvPr>
        </p:nvSpPr>
        <p:spPr>
          <a:xfrm>
            <a:off x="11228832" y="6309360"/>
            <a:ext cx="274320" cy="92333"/>
          </a:xfrm>
        </p:spPr>
        <p:txBody>
          <a:bodyPr vert="horz" lIns="91440" tIns="45720" rIns="91440" bIns="45720" rtlCol="0" anchor="ctr">
            <a:normAutofit fontScale="25000" lnSpcReduction="20000"/>
          </a:bodyPr>
          <a:lstStyle/>
          <a:p>
            <a:pPr>
              <a:lnSpc>
                <a:spcPct val="90000"/>
              </a:lnSpc>
              <a:spcAft>
                <a:spcPts val="600"/>
              </a:spcAft>
              <a:defRPr/>
            </a:pPr>
            <a:fld id="{58B792A5-9BAE-6942-BFE1-9FCDB51EA51E}" type="slidenum">
              <a:rPr lang="en-US" sz="200"/>
              <a:pPr>
                <a:lnSpc>
                  <a:spcPct val="90000"/>
                </a:lnSpc>
                <a:spcAft>
                  <a:spcPts val="600"/>
                </a:spcAft>
                <a:defRPr/>
              </a:pPr>
              <a:t>5</a:t>
            </a:fld>
            <a:endParaRPr lang="en-US" sz="200"/>
          </a:p>
        </p:txBody>
      </p:sp>
    </p:spTree>
    <p:extLst>
      <p:ext uri="{BB962C8B-B14F-4D97-AF65-F5344CB8AC3E}">
        <p14:creationId xmlns:p14="http://schemas.microsoft.com/office/powerpoint/2010/main" val="72065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0EA0F-1A69-5C40-B911-A81AC12CCB5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5B662C8-0021-2C8C-CF80-CEF616FE392E}"/>
              </a:ext>
            </a:extLst>
          </p:cNvPr>
          <p:cNvSpPr>
            <a:spLocks noGrp="1"/>
          </p:cNvSpPr>
          <p:nvPr>
            <p:ph type="body" sz="quarter" idx="13"/>
          </p:nvPr>
        </p:nvSpPr>
        <p:spPr>
          <a:xfrm>
            <a:off x="414670" y="1677467"/>
            <a:ext cx="5465135" cy="4978513"/>
          </a:xfrm>
        </p:spPr>
        <p:txBody>
          <a:bodyPr anchor="t"/>
          <a:lstStyle/>
          <a:p>
            <a:pPr>
              <a:lnSpc>
                <a:spcPct val="100000"/>
              </a:lnSpc>
              <a:buFont typeface="Arial" panose="020B0604020202020204" pitchFamily="34" charset="0"/>
              <a:buChar char="•"/>
            </a:pPr>
            <a:r>
              <a:rPr lang="en-US" sz="1200" dirty="0"/>
              <a:t>Published paper titled “Database Search: Text2SQL using dynamic few-shot prompting with self-consistency using LLM” in Journal </a:t>
            </a:r>
            <a:r>
              <a:rPr lang="en-US" sz="1200" dirty="0">
                <a:hlinkClick r:id="rId3"/>
              </a:rPr>
              <a:t>Lattice</a:t>
            </a:r>
            <a:r>
              <a:rPr lang="en-US" sz="1200" dirty="0"/>
              <a:t> (Volume 6) and MLDS 2025 conference organized by </a:t>
            </a:r>
            <a:r>
              <a:rPr lang="en-US" sz="1200" dirty="0">
                <a:hlinkClick r:id="rId4"/>
              </a:rPr>
              <a:t>AIM</a:t>
            </a: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r>
              <a:rPr lang="en-US" sz="1200" dirty="0"/>
              <a:t>Led the team and won 1</a:t>
            </a:r>
            <a:r>
              <a:rPr lang="en-US" sz="1200" baseline="30000" dirty="0"/>
              <a:t>st</a:t>
            </a:r>
            <a:r>
              <a:rPr lang="en-US" sz="1200" dirty="0"/>
              <a:t> Prize in hackathon Dev Premier League – Organized by Hack2Skill and Snowflake</a:t>
            </a:r>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r>
              <a:rPr lang="en-US" sz="1200" dirty="0"/>
              <a:t>Secured Place in Top 91 (Top 1%) teams in Google Agentic AI day – presented by Google and Hack2skill</a:t>
            </a:r>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r>
              <a:rPr lang="en-US" sz="1200" dirty="0"/>
              <a:t>Second Runner Up In Howathon and Sapient Expo India 2019</a:t>
            </a:r>
            <a:endParaRPr lang="en-US" sz="1200" b="1"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endParaRPr lang="en-US" sz="1200" dirty="0"/>
          </a:p>
          <a:p>
            <a:pPr>
              <a:lnSpc>
                <a:spcPct val="100000"/>
              </a:lnSpc>
              <a:buFont typeface="Arial" panose="020B0604020202020204" pitchFamily="34" charset="0"/>
              <a:buChar char="•"/>
            </a:pPr>
            <a:r>
              <a:rPr lang="en-US" sz="1200" dirty="0"/>
              <a:t>Kaggle Competitions Expert: 2 Bronze and 1 Silver medal</a:t>
            </a:r>
          </a:p>
        </p:txBody>
      </p:sp>
      <p:sp>
        <p:nvSpPr>
          <p:cNvPr id="10" name="Slide Number Placeholder 9">
            <a:extLst>
              <a:ext uri="{FF2B5EF4-FFF2-40B4-BE49-F238E27FC236}">
                <a16:creationId xmlns:a16="http://schemas.microsoft.com/office/drawing/2014/main" id="{9908CF25-3C6F-8F14-0EE7-0D1905DDD08E}"/>
              </a:ext>
            </a:extLst>
          </p:cNvPr>
          <p:cNvSpPr>
            <a:spLocks noGrp="1"/>
          </p:cNvSpPr>
          <p:nvPr>
            <p:ph type="sldNum" sz="quarter" idx="14"/>
          </p:nvPr>
        </p:nvSpPr>
        <p:spPr/>
        <p:txBody>
          <a:bodyPr/>
          <a:lstStyle/>
          <a:p>
            <a:fld id="{58B792A5-9BAE-6942-BFE1-9FCDB51EA51E}" type="slidenum">
              <a:rPr lang="en-US" smtClean="0"/>
              <a:pPr/>
              <a:t>6</a:t>
            </a:fld>
            <a:endParaRPr lang="en-US" dirty="0"/>
          </a:p>
        </p:txBody>
      </p:sp>
      <p:sp>
        <p:nvSpPr>
          <p:cNvPr id="8" name="Text Placeholder 4">
            <a:extLst>
              <a:ext uri="{FF2B5EF4-FFF2-40B4-BE49-F238E27FC236}">
                <a16:creationId xmlns:a16="http://schemas.microsoft.com/office/drawing/2014/main" id="{B322140C-82CD-3864-DC01-C5F498156536}"/>
              </a:ext>
            </a:extLst>
          </p:cNvPr>
          <p:cNvSpPr txBox="1">
            <a:spLocks/>
          </p:cNvSpPr>
          <p:nvPr/>
        </p:nvSpPr>
        <p:spPr>
          <a:xfrm>
            <a:off x="6805687" y="1677467"/>
            <a:ext cx="4613679" cy="2314101"/>
          </a:xfrm>
          <a:prstGeom prst="rect">
            <a:avLst/>
          </a:prstGeom>
        </p:spPr>
        <p:txBody>
          <a:bodyPr vert="horz" lIns="0" tIns="0" rIns="0" bIns="0" rtlCol="0" anchor="ctr" anchorCtr="0">
            <a:noAutofit/>
          </a:bodyPr>
          <a:lstStyle>
            <a:lvl1pPr marL="0" indent="0" algn="l" defTabSz="914400" rtl="0" eaLnBrk="1" latinLnBrk="0" hangingPunct="1">
              <a:lnSpc>
                <a:spcPts val="2200"/>
              </a:lnSpc>
              <a:spcBef>
                <a:spcPts val="0"/>
              </a:spcBef>
              <a:buFontTx/>
              <a:buAutoNum type="arabicPeriod"/>
              <a:defRPr sz="1400" kern="1200">
                <a:solidFill>
                  <a:schemeClr val="tx1"/>
                </a:solidFill>
                <a:latin typeface="+mn-lt"/>
                <a:ea typeface="+mn-ea"/>
                <a:cs typeface="+mn-cs"/>
              </a:defRPr>
            </a:lvl1pPr>
            <a:lvl2pPr marL="171450" indent="-16510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2pPr>
            <a:lvl3pPr marL="342900" indent="-171450" algn="l" defTabSz="914400" rtl="0" eaLnBrk="1" latinLnBrk="0" hangingPunct="1">
              <a:lnSpc>
                <a:spcPts val="2200"/>
              </a:lnSpc>
              <a:spcBef>
                <a:spcPts val="0"/>
              </a:spcBef>
              <a:buFont typeface="Arial" panose="020B0604020202020204" pitchFamily="34" charset="0"/>
              <a:buAutoNum type="arabicPeriod"/>
              <a:tabLst/>
              <a:defRPr sz="1400" kern="1200">
                <a:solidFill>
                  <a:schemeClr val="tx1"/>
                </a:solidFill>
                <a:latin typeface="+mn-lt"/>
                <a:ea typeface="+mn-ea"/>
                <a:cs typeface="+mn-cs"/>
              </a:defRPr>
            </a:lvl3pPr>
            <a:lvl4pPr marL="514350" indent="-171450" algn="l" defTabSz="914400" rtl="0" eaLnBrk="1" latinLnBrk="0" hangingPunct="1">
              <a:lnSpc>
                <a:spcPts val="2200"/>
              </a:lnSpc>
              <a:spcBef>
                <a:spcPts val="0"/>
              </a:spcBef>
              <a:buFont typeface="Arial" panose="020B0604020202020204" pitchFamily="34" charset="0"/>
              <a:buAutoNum type="arabicPeriod"/>
              <a:tabLst/>
              <a:defRPr sz="1400" kern="1200">
                <a:solidFill>
                  <a:schemeClr val="tx1"/>
                </a:solidFill>
                <a:latin typeface="+mn-lt"/>
                <a:ea typeface="+mn-ea"/>
                <a:cs typeface="+mn-cs"/>
              </a:defRPr>
            </a:lvl4pPr>
            <a:lvl5pPr marL="68580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Multiple certifications from Coursera on AI, Machine Learning and Deep Learning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Participated in Gen AI Exchange Hackathon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Oracle  Certified Java Programmer –Professional SE6 </a:t>
            </a:r>
          </a:p>
        </p:txBody>
      </p:sp>
      <p:sp>
        <p:nvSpPr>
          <p:cNvPr id="2" name="TextBox 1">
            <a:extLst>
              <a:ext uri="{FF2B5EF4-FFF2-40B4-BE49-F238E27FC236}">
                <a16:creationId xmlns:a16="http://schemas.microsoft.com/office/drawing/2014/main" id="{A607F2A6-D72B-3929-F5D4-A6983DDC2820}"/>
              </a:ext>
            </a:extLst>
          </p:cNvPr>
          <p:cNvSpPr txBox="1"/>
          <p:nvPr/>
        </p:nvSpPr>
        <p:spPr>
          <a:xfrm>
            <a:off x="1286538" y="670585"/>
            <a:ext cx="2838893" cy="369332"/>
          </a:xfrm>
          <a:prstGeom prst="rect">
            <a:avLst/>
          </a:prstGeom>
          <a:gradFill>
            <a:gsLst>
              <a:gs pos="99000">
                <a:srgbClr val="800080"/>
              </a:gs>
              <a:gs pos="100000">
                <a:schemeClr val="accent1">
                  <a:lumMod val="45000"/>
                  <a:lumOff val="55000"/>
                </a:schemeClr>
              </a:gs>
              <a:gs pos="100000">
                <a:srgbClr val="660066"/>
              </a:gs>
              <a:gs pos="100000">
                <a:schemeClr val="accent1">
                  <a:lumMod val="30000"/>
                  <a:lumOff val="70000"/>
                </a:schemeClr>
              </a:gs>
            </a:gsLst>
            <a:lin ang="5400000" scaled="1"/>
          </a:gradFill>
          <a:ln w="19050">
            <a:solidFill>
              <a:schemeClr val="tx1"/>
            </a:solidFill>
          </a:ln>
        </p:spPr>
        <p:txBody>
          <a:bodyPr wrap="square" rtlCol="0">
            <a:spAutoFit/>
          </a:bodyPr>
          <a:lstStyle/>
          <a:p>
            <a:pPr algn="ctr"/>
            <a:r>
              <a:rPr lang="en-US" b="1" dirty="0">
                <a:solidFill>
                  <a:schemeClr val="bg1"/>
                </a:solidFill>
              </a:rPr>
              <a:t>Achievements</a:t>
            </a:r>
          </a:p>
        </p:txBody>
      </p:sp>
      <p:sp>
        <p:nvSpPr>
          <p:cNvPr id="4" name="TextBox 3">
            <a:extLst>
              <a:ext uri="{FF2B5EF4-FFF2-40B4-BE49-F238E27FC236}">
                <a16:creationId xmlns:a16="http://schemas.microsoft.com/office/drawing/2014/main" id="{32663D9A-DD63-7CB6-00BF-F18BC9AC36C7}"/>
              </a:ext>
            </a:extLst>
          </p:cNvPr>
          <p:cNvSpPr txBox="1"/>
          <p:nvPr/>
        </p:nvSpPr>
        <p:spPr>
          <a:xfrm>
            <a:off x="7538485" y="670585"/>
            <a:ext cx="3257106" cy="369332"/>
          </a:xfrm>
          <a:prstGeom prst="rect">
            <a:avLst/>
          </a:prstGeom>
          <a:gradFill>
            <a:gsLst>
              <a:gs pos="99000">
                <a:srgbClr val="800080"/>
              </a:gs>
              <a:gs pos="100000">
                <a:schemeClr val="accent1">
                  <a:lumMod val="45000"/>
                  <a:lumOff val="55000"/>
                </a:schemeClr>
              </a:gs>
              <a:gs pos="100000">
                <a:srgbClr val="660066"/>
              </a:gs>
              <a:gs pos="100000">
                <a:schemeClr val="accent1">
                  <a:lumMod val="30000"/>
                  <a:lumOff val="70000"/>
                </a:schemeClr>
              </a:gs>
            </a:gsLst>
            <a:lin ang="5400000" scaled="1"/>
          </a:gradFill>
          <a:ln w="19050">
            <a:solidFill>
              <a:schemeClr val="tx1"/>
            </a:solidFill>
          </a:ln>
        </p:spPr>
        <p:txBody>
          <a:bodyPr wrap="square" rtlCol="0">
            <a:spAutoFit/>
          </a:bodyPr>
          <a:lstStyle/>
          <a:p>
            <a:pPr algn="ctr"/>
            <a:r>
              <a:rPr lang="en-US" b="1" dirty="0">
                <a:solidFill>
                  <a:schemeClr val="bg1"/>
                </a:solidFill>
              </a:rPr>
              <a:t>Extra Curricular Activities</a:t>
            </a:r>
          </a:p>
        </p:txBody>
      </p:sp>
      <p:pic>
        <p:nvPicPr>
          <p:cNvPr id="7" name="Picture 6">
            <a:extLst>
              <a:ext uri="{FF2B5EF4-FFF2-40B4-BE49-F238E27FC236}">
                <a16:creationId xmlns:a16="http://schemas.microsoft.com/office/drawing/2014/main" id="{DE848CB7-19B3-CBA9-5083-ED4076B61C75}"/>
              </a:ext>
            </a:extLst>
          </p:cNvPr>
          <p:cNvPicPr>
            <a:picLocks noChangeAspect="1"/>
          </p:cNvPicPr>
          <p:nvPr/>
        </p:nvPicPr>
        <p:blipFill>
          <a:blip r:embed="rId5"/>
          <a:stretch>
            <a:fillRect/>
          </a:stretch>
        </p:blipFill>
        <p:spPr>
          <a:xfrm>
            <a:off x="4584551" y="2674089"/>
            <a:ext cx="1019447" cy="679339"/>
          </a:xfrm>
          <a:prstGeom prst="rect">
            <a:avLst/>
          </a:prstGeom>
        </p:spPr>
      </p:pic>
      <p:pic>
        <p:nvPicPr>
          <p:cNvPr id="11" name="Picture 10" descr="A certificate of achievement with text and images&#10;&#10;AI-generated content may be incorrect.">
            <a:extLst>
              <a:ext uri="{FF2B5EF4-FFF2-40B4-BE49-F238E27FC236}">
                <a16:creationId xmlns:a16="http://schemas.microsoft.com/office/drawing/2014/main" id="{E5938884-0AB7-578A-94A6-B581DDF7A91F}"/>
              </a:ext>
            </a:extLst>
          </p:cNvPr>
          <p:cNvPicPr>
            <a:picLocks noChangeAspect="1"/>
          </p:cNvPicPr>
          <p:nvPr/>
        </p:nvPicPr>
        <p:blipFill>
          <a:blip r:embed="rId6"/>
          <a:stretch>
            <a:fillRect/>
          </a:stretch>
        </p:blipFill>
        <p:spPr>
          <a:xfrm>
            <a:off x="4584551" y="3779739"/>
            <a:ext cx="1019447" cy="764585"/>
          </a:xfrm>
          <a:prstGeom prst="rect">
            <a:avLst/>
          </a:prstGeom>
        </p:spPr>
      </p:pic>
      <p:pic>
        <p:nvPicPr>
          <p:cNvPr id="14" name="Picture 13">
            <a:extLst>
              <a:ext uri="{FF2B5EF4-FFF2-40B4-BE49-F238E27FC236}">
                <a16:creationId xmlns:a16="http://schemas.microsoft.com/office/drawing/2014/main" id="{CA8067F6-F0F1-8E69-6EFE-9FD5BB5AD535}"/>
              </a:ext>
            </a:extLst>
          </p:cNvPr>
          <p:cNvPicPr>
            <a:picLocks noChangeAspect="1"/>
          </p:cNvPicPr>
          <p:nvPr/>
        </p:nvPicPr>
        <p:blipFill>
          <a:blip r:embed="rId7"/>
          <a:stretch>
            <a:fillRect/>
          </a:stretch>
        </p:blipFill>
        <p:spPr>
          <a:xfrm rot="5400000">
            <a:off x="4646696" y="4910199"/>
            <a:ext cx="831396" cy="1083208"/>
          </a:xfrm>
          <a:prstGeom prst="rect">
            <a:avLst/>
          </a:prstGeom>
        </p:spPr>
      </p:pic>
      <p:sp>
        <p:nvSpPr>
          <p:cNvPr id="3" name="TextBox 2">
            <a:extLst>
              <a:ext uri="{FF2B5EF4-FFF2-40B4-BE49-F238E27FC236}">
                <a16:creationId xmlns:a16="http://schemas.microsoft.com/office/drawing/2014/main" id="{FB1A93F1-A606-99F0-E9FF-33A2B1F94267}"/>
              </a:ext>
            </a:extLst>
          </p:cNvPr>
          <p:cNvSpPr txBox="1"/>
          <p:nvPr/>
        </p:nvSpPr>
        <p:spPr>
          <a:xfrm>
            <a:off x="0" y="0"/>
            <a:ext cx="1520456" cy="369332"/>
          </a:xfrm>
          <a:prstGeom prst="rect">
            <a:avLst/>
          </a:prstGeom>
          <a:solidFill>
            <a:schemeClr val="bg1"/>
          </a:solidFill>
        </p:spPr>
        <p:txBody>
          <a:bodyPr wrap="square" rtlCol="0">
            <a:spAutoFit/>
          </a:bodyPr>
          <a:lstStyle/>
          <a:p>
            <a:endParaRPr lang="en-US" dirty="0"/>
          </a:p>
        </p:txBody>
      </p:sp>
      <p:sp>
        <p:nvSpPr>
          <p:cNvPr id="6" name="TextBox 5">
            <a:extLst>
              <a:ext uri="{FF2B5EF4-FFF2-40B4-BE49-F238E27FC236}">
                <a16:creationId xmlns:a16="http://schemas.microsoft.com/office/drawing/2014/main" id="{2C55CF97-F327-F9B7-E2F8-F322F4ACA043}"/>
              </a:ext>
            </a:extLst>
          </p:cNvPr>
          <p:cNvSpPr txBox="1"/>
          <p:nvPr/>
        </p:nvSpPr>
        <p:spPr>
          <a:xfrm>
            <a:off x="0" y="6471314"/>
            <a:ext cx="152045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404655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4927FC-6896-338F-45CE-399D2DB784BA}"/>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8744208-CE32-9692-347F-B0A1330A3F05}"/>
              </a:ext>
            </a:extLst>
          </p:cNvPr>
          <p:cNvPicPr>
            <a:picLocks noChangeAspect="1"/>
          </p:cNvPicPr>
          <p:nvPr/>
        </p:nvPicPr>
        <p:blipFill>
          <a:blip r:embed="rId3">
            <a:alphaModFix amt="50000"/>
          </a:blip>
          <a:srcRect r="913" b="-1"/>
          <a:stretch>
            <a:fillRect/>
          </a:stretch>
        </p:blipFill>
        <p:spPr>
          <a:xfrm>
            <a:off x="20" y="10"/>
            <a:ext cx="12188930" cy="6857990"/>
          </a:xfrm>
          <a:prstGeom prst="rect">
            <a:avLst/>
          </a:prstGeom>
        </p:spPr>
      </p:pic>
      <p:sp>
        <p:nvSpPr>
          <p:cNvPr id="4" name="Title 3">
            <a:extLst>
              <a:ext uri="{FF2B5EF4-FFF2-40B4-BE49-F238E27FC236}">
                <a16:creationId xmlns:a16="http://schemas.microsoft.com/office/drawing/2014/main" id="{02ACD49D-0F3A-F612-5CC4-586AE92AA56C}"/>
              </a:ext>
            </a:extLst>
          </p:cNvPr>
          <p:cNvSpPr>
            <a:spLocks noGrp="1"/>
          </p:cNvSpPr>
          <p:nvPr>
            <p:ph type="ctrTitle"/>
          </p:nvPr>
        </p:nvSpPr>
        <p:spPr>
          <a:xfrm>
            <a:off x="3048000" y="3156585"/>
            <a:ext cx="9144000" cy="3063240"/>
          </a:xfrm>
        </p:spPr>
        <p:txBody>
          <a:bodyPr vert="horz" lIns="91440" tIns="45720" rIns="91440" bIns="45720" rtlCol="0" anchor="b">
            <a:normAutofit/>
          </a:bodyPr>
          <a:lstStyle/>
          <a:p>
            <a:pPr algn="ctr">
              <a:lnSpc>
                <a:spcPct val="90000"/>
              </a:lnSpc>
            </a:pPr>
            <a:r>
              <a:rPr lang="en-US" sz="6600" b="1" dirty="0">
                <a:solidFill>
                  <a:schemeClr val="bg1"/>
                </a:solidFill>
                <a:latin typeface="+mj-lt"/>
              </a:rPr>
              <a:t> Cost360 Assistant</a:t>
            </a:r>
          </a:p>
        </p:txBody>
      </p:sp>
      <p:sp>
        <p:nvSpPr>
          <p:cNvPr id="26"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798023EB-BBD5-38F1-3E92-00AAF04CF459}"/>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spcAft>
                <a:spcPts val="600"/>
              </a:spcAft>
              <a:defRPr/>
            </a:pPr>
            <a:fld id="{58B792A5-9BAE-6942-BFE1-9FCDB51EA51E}" type="slidenum">
              <a:rPr lang="en-US" sz="1200">
                <a:solidFill>
                  <a:srgbClr val="FFFFFF"/>
                </a:solidFill>
                <a:latin typeface="Calibri" panose="020F0502020204030204"/>
              </a:rPr>
              <a:pPr>
                <a:spcAft>
                  <a:spcPts val="600"/>
                </a:spcAft>
                <a:defRPr/>
              </a:pPr>
              <a:t>7</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126047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AC5EAF-6CCE-797C-C435-0FB29A096DB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FF66DA4-473D-77DE-01F1-9DB55A8C9F97}"/>
              </a:ext>
            </a:extLst>
          </p:cNvPr>
          <p:cNvSpPr txBox="1"/>
          <p:nvPr/>
        </p:nvSpPr>
        <p:spPr>
          <a:xfrm>
            <a:off x="438913" y="859536"/>
            <a:ext cx="4832802" cy="1243584"/>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a:latin typeface="+mj-lt"/>
                <a:ea typeface="+mj-ea"/>
                <a:cs typeface="+mj-cs"/>
              </a:rPr>
              <a:t>High Level Architecture</a:t>
            </a:r>
          </a:p>
        </p:txBody>
      </p:sp>
      <p:sp>
        <p:nvSpPr>
          <p:cNvPr id="28" name="Rectangle 27">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74549EB2-1529-F612-56A4-EB0D527A1EF4}"/>
              </a:ext>
            </a:extLst>
          </p:cNvPr>
          <p:cNvSpPr txBox="1"/>
          <p:nvPr/>
        </p:nvSpPr>
        <p:spPr>
          <a:xfrm>
            <a:off x="438912" y="2512611"/>
            <a:ext cx="4832803" cy="3664351"/>
          </a:xfrm>
          <a:prstGeom prst="rect">
            <a:avLst/>
          </a:prstGeom>
        </p:spPr>
        <p:txBody>
          <a:bodyPr vert="horz" lIns="91440" tIns="45720" rIns="91440" bIns="45720" rtlCol="0">
            <a:normAutofit/>
          </a:bodyPr>
          <a:lstStyle/>
          <a:p>
            <a:pPr fontAlgn="t">
              <a:lnSpc>
                <a:spcPct val="90000"/>
              </a:lnSpc>
              <a:spcAft>
                <a:spcPts val="600"/>
              </a:spcAft>
            </a:pPr>
            <a:r>
              <a:rPr lang="en-US" b="0" i="0" dirty="0">
                <a:effectLst/>
              </a:rPr>
              <a:t>Cost360 Assistant leverages Snowflake Cortex and Agentic AI to streamline procurement cost management. Cortex Agents autonomously gather and process data, enabling natural language updates and real-time insights. Combined with Cortex Analyst and Search Service, this system simplifies workflows, accelerates analysis, and empowers procurement teams with actionable intelligence and seamless control.</a:t>
            </a:r>
          </a:p>
        </p:txBody>
      </p:sp>
      <p:pic>
        <p:nvPicPr>
          <p:cNvPr id="9" name="Picture 8">
            <a:extLst>
              <a:ext uri="{FF2B5EF4-FFF2-40B4-BE49-F238E27FC236}">
                <a16:creationId xmlns:a16="http://schemas.microsoft.com/office/drawing/2014/main" id="{719D7EE8-FFB7-8253-BD06-D78DEF38BC9D}"/>
              </a:ext>
            </a:extLst>
          </p:cNvPr>
          <p:cNvPicPr>
            <a:picLocks noChangeAspect="1"/>
          </p:cNvPicPr>
          <p:nvPr/>
        </p:nvPicPr>
        <p:blipFill>
          <a:blip r:embed="rId3"/>
          <a:stretch>
            <a:fillRect/>
          </a:stretch>
        </p:blipFill>
        <p:spPr>
          <a:xfrm>
            <a:off x="6189750" y="361507"/>
            <a:ext cx="6014694" cy="3067493"/>
          </a:xfrm>
          <a:prstGeom prst="rect">
            <a:avLst/>
          </a:prstGeom>
        </p:spPr>
      </p:pic>
      <p:pic>
        <p:nvPicPr>
          <p:cNvPr id="17" name="Picture 16" descr="A table with text and numbers&#10;&#10;AI-generated content may be incorrect.">
            <a:extLst>
              <a:ext uri="{FF2B5EF4-FFF2-40B4-BE49-F238E27FC236}">
                <a16:creationId xmlns:a16="http://schemas.microsoft.com/office/drawing/2014/main" id="{16C5DE53-EE3B-69AB-F5A1-B1C7FF4670FC}"/>
              </a:ext>
            </a:extLst>
          </p:cNvPr>
          <p:cNvPicPr>
            <a:picLocks noChangeAspect="1"/>
          </p:cNvPicPr>
          <p:nvPr/>
        </p:nvPicPr>
        <p:blipFill>
          <a:blip r:embed="rId4"/>
          <a:stretch>
            <a:fillRect/>
          </a:stretch>
        </p:blipFill>
        <p:spPr>
          <a:xfrm>
            <a:off x="6311461" y="4286285"/>
            <a:ext cx="5771272" cy="1714429"/>
          </a:xfrm>
          <a:prstGeom prst="rect">
            <a:avLst/>
          </a:prstGeom>
        </p:spPr>
      </p:pic>
    </p:spTree>
    <p:extLst>
      <p:ext uri="{BB962C8B-B14F-4D97-AF65-F5344CB8AC3E}">
        <p14:creationId xmlns:p14="http://schemas.microsoft.com/office/powerpoint/2010/main" val="3828785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1DAE2C-4F22-4734-3C0B-0CED9032FA6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9762E98-0985-3B36-0B1E-B8AB4C060E9B}"/>
              </a:ext>
            </a:extLst>
          </p:cNvPr>
          <p:cNvPicPr>
            <a:picLocks noChangeAspect="1"/>
          </p:cNvPicPr>
          <p:nvPr/>
        </p:nvPicPr>
        <p:blipFill>
          <a:blip r:embed="rId3">
            <a:alphaModFix amt="50000"/>
          </a:blip>
          <a:srcRect r="913" b="-1"/>
          <a:stretch>
            <a:fillRect/>
          </a:stretch>
        </p:blipFill>
        <p:spPr>
          <a:xfrm>
            <a:off x="0" y="0"/>
            <a:ext cx="12188930" cy="6857990"/>
          </a:xfrm>
          <a:prstGeom prst="rect">
            <a:avLst/>
          </a:prstGeom>
        </p:spPr>
      </p:pic>
      <p:sp>
        <p:nvSpPr>
          <p:cNvPr id="4" name="Title 3">
            <a:extLst>
              <a:ext uri="{FF2B5EF4-FFF2-40B4-BE49-F238E27FC236}">
                <a16:creationId xmlns:a16="http://schemas.microsoft.com/office/drawing/2014/main" id="{C7793249-273F-C991-2FEC-E825FB064492}"/>
              </a:ext>
            </a:extLst>
          </p:cNvPr>
          <p:cNvSpPr>
            <a:spLocks noGrp="1"/>
          </p:cNvSpPr>
          <p:nvPr>
            <p:ph type="ctrTitle"/>
          </p:nvPr>
        </p:nvSpPr>
        <p:spPr>
          <a:xfrm>
            <a:off x="3645795" y="3293100"/>
            <a:ext cx="9144000" cy="3063240"/>
          </a:xfrm>
        </p:spPr>
        <p:txBody>
          <a:bodyPr vert="horz" lIns="91440" tIns="45720" rIns="91440" bIns="45720" rtlCol="0" anchor="b">
            <a:normAutofit/>
          </a:bodyPr>
          <a:lstStyle/>
          <a:p>
            <a:pPr algn="ctr">
              <a:lnSpc>
                <a:spcPct val="90000"/>
              </a:lnSpc>
            </a:pPr>
            <a:r>
              <a:rPr lang="en-US" sz="5400" b="1" dirty="0">
                <a:solidFill>
                  <a:schemeClr val="bg1"/>
                </a:solidFill>
                <a:latin typeface="+mj-lt"/>
              </a:rPr>
              <a:t>Text2SQL Using RAG</a:t>
            </a: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A7009810-16B9-0039-8370-D880727FC112}"/>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spcAft>
                <a:spcPts val="600"/>
              </a:spcAft>
              <a:defRPr/>
            </a:pPr>
            <a:fld id="{58B792A5-9BAE-6942-BFE1-9FCDB51EA51E}" type="slidenum">
              <a:rPr lang="en-US" sz="1200">
                <a:solidFill>
                  <a:srgbClr val="FFFFFF"/>
                </a:solidFill>
                <a:latin typeface="Calibri" panose="020F0502020204030204"/>
              </a:rPr>
              <a:pPr>
                <a:spcAft>
                  <a:spcPts val="600"/>
                </a:spcAft>
                <a:defRPr/>
              </a:pPr>
              <a:t>9</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62938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41ECB-5276-6EC4-B747-04D981C7A7A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1FE2EE6-0C48-1A42-0419-8DEE42006B03}"/>
              </a:ext>
            </a:extLst>
          </p:cNvPr>
          <p:cNvSpPr txBox="1"/>
          <p:nvPr/>
        </p:nvSpPr>
        <p:spPr>
          <a:xfrm>
            <a:off x="438913" y="859536"/>
            <a:ext cx="4832802" cy="1243584"/>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a:latin typeface="+mj-lt"/>
                <a:ea typeface="+mj-ea"/>
                <a:cs typeface="+mj-cs"/>
              </a:rPr>
              <a:t>High Level Architecture</a:t>
            </a:r>
          </a:p>
        </p:txBody>
      </p:sp>
      <p:pic>
        <p:nvPicPr>
          <p:cNvPr id="2" name="Picture 1">
            <a:extLst>
              <a:ext uri="{FF2B5EF4-FFF2-40B4-BE49-F238E27FC236}">
                <a16:creationId xmlns:a16="http://schemas.microsoft.com/office/drawing/2014/main" id="{4698F1CB-F099-D808-3E74-D136B46BCA7A}"/>
              </a:ext>
            </a:extLst>
          </p:cNvPr>
          <p:cNvPicPr>
            <a:picLocks noChangeAspect="1"/>
          </p:cNvPicPr>
          <p:nvPr/>
        </p:nvPicPr>
        <p:blipFill>
          <a:blip r:embed="rId3"/>
          <a:stretch>
            <a:fillRect/>
          </a:stretch>
        </p:blipFill>
        <p:spPr>
          <a:xfrm>
            <a:off x="6095999" y="304529"/>
            <a:ext cx="5800847" cy="3124471"/>
          </a:xfrm>
          <a:prstGeom prst="rect">
            <a:avLst/>
          </a:prstGeom>
        </p:spPr>
      </p:pic>
      <p:pic>
        <p:nvPicPr>
          <p:cNvPr id="3" name="Picture 2">
            <a:extLst>
              <a:ext uri="{FF2B5EF4-FFF2-40B4-BE49-F238E27FC236}">
                <a16:creationId xmlns:a16="http://schemas.microsoft.com/office/drawing/2014/main" id="{74AEF924-311D-4FAC-DD11-5AD2547E758E}"/>
              </a:ext>
            </a:extLst>
          </p:cNvPr>
          <p:cNvPicPr>
            <a:picLocks noChangeAspect="1"/>
          </p:cNvPicPr>
          <p:nvPr/>
        </p:nvPicPr>
        <p:blipFill>
          <a:blip r:embed="rId4"/>
          <a:stretch>
            <a:fillRect/>
          </a:stretch>
        </p:blipFill>
        <p:spPr>
          <a:xfrm>
            <a:off x="6095999" y="3625527"/>
            <a:ext cx="5830753" cy="3148263"/>
          </a:xfrm>
          <a:prstGeom prst="rect">
            <a:avLst/>
          </a:prstGeom>
        </p:spPr>
      </p:pic>
      <p:sp>
        <p:nvSpPr>
          <p:cNvPr id="4" name="TextBox 3">
            <a:extLst>
              <a:ext uri="{FF2B5EF4-FFF2-40B4-BE49-F238E27FC236}">
                <a16:creationId xmlns:a16="http://schemas.microsoft.com/office/drawing/2014/main" id="{41AA677A-78D3-D4E5-76B7-0235E7F125B2}"/>
              </a:ext>
            </a:extLst>
          </p:cNvPr>
          <p:cNvSpPr txBox="1"/>
          <p:nvPr/>
        </p:nvSpPr>
        <p:spPr>
          <a:xfrm>
            <a:off x="265248" y="2602812"/>
            <a:ext cx="5006467" cy="2037096"/>
          </a:xfrm>
          <a:prstGeom prst="rect">
            <a:avLst/>
          </a:prstGeom>
        </p:spPr>
        <p:txBody>
          <a:bodyPr vert="horz" lIns="91440" tIns="45720" rIns="91440" bIns="45720" rtlCol="0">
            <a:normAutofit fontScale="92500" lnSpcReduction="20000"/>
          </a:bodyPr>
          <a:lstStyle>
            <a:defPPr>
              <a:defRPr lang="en-US"/>
            </a:defPPr>
            <a:lvl1pPr fontAlgn="t">
              <a:lnSpc>
                <a:spcPct val="90000"/>
              </a:lnSpc>
              <a:spcAft>
                <a:spcPts val="600"/>
              </a:spcAft>
              <a:defRPr b="0" i="0">
                <a:effectLst/>
              </a:defRPr>
            </a:lvl1pPr>
          </a:lstStyle>
          <a:p>
            <a:r>
              <a:rPr lang="en-US" dirty="0"/>
              <a:t>Text2SQL enables non-experts to query relational databases using natural language. Traditional fine-tuning risks overfitting, while LLM-based prompting improves adaptability. Our dynamic RAG framework scales across multiple tables using few-shot examples, business rules, and self-consistency voting. It integrates seamlessly into analytical platforms, delivering accurate SQL queries, results, and summaries for faster decision-making.</a:t>
            </a:r>
          </a:p>
        </p:txBody>
      </p:sp>
      <p:sp>
        <p:nvSpPr>
          <p:cNvPr id="5" name="TextBox 4">
            <a:extLst>
              <a:ext uri="{FF2B5EF4-FFF2-40B4-BE49-F238E27FC236}">
                <a16:creationId xmlns:a16="http://schemas.microsoft.com/office/drawing/2014/main" id="{7E92F7F6-8EF4-1728-E557-36ACD9E6C8CB}"/>
              </a:ext>
            </a:extLst>
          </p:cNvPr>
          <p:cNvSpPr txBox="1"/>
          <p:nvPr/>
        </p:nvSpPr>
        <p:spPr>
          <a:xfrm>
            <a:off x="0" y="0"/>
            <a:ext cx="1520456" cy="369332"/>
          </a:xfrm>
          <a:prstGeom prst="rect">
            <a:avLst/>
          </a:prstGeom>
          <a:solidFill>
            <a:schemeClr val="bg1"/>
          </a:solidFill>
        </p:spPr>
        <p:txBody>
          <a:bodyPr wrap="square" rtlCol="0">
            <a:spAutoFit/>
          </a:bodyPr>
          <a:lstStyle/>
          <a:p>
            <a:endParaRPr lang="en-US" dirty="0"/>
          </a:p>
        </p:txBody>
      </p:sp>
      <p:sp>
        <p:nvSpPr>
          <p:cNvPr id="6" name="TextBox 5">
            <a:extLst>
              <a:ext uri="{FF2B5EF4-FFF2-40B4-BE49-F238E27FC236}">
                <a16:creationId xmlns:a16="http://schemas.microsoft.com/office/drawing/2014/main" id="{2BBE1C84-CA93-DD7E-2C00-BC594262D661}"/>
              </a:ext>
            </a:extLst>
          </p:cNvPr>
          <p:cNvSpPr txBox="1"/>
          <p:nvPr/>
        </p:nvSpPr>
        <p:spPr>
          <a:xfrm>
            <a:off x="0" y="6394562"/>
            <a:ext cx="152045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678153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9B9177-83D9-B0AF-4508-E687ED24253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8FCBA7B-6FE2-3499-3382-7136EF0429BF}"/>
              </a:ext>
            </a:extLst>
          </p:cNvPr>
          <p:cNvPicPr>
            <a:picLocks noChangeAspect="1"/>
          </p:cNvPicPr>
          <p:nvPr/>
        </p:nvPicPr>
        <p:blipFill>
          <a:blip r:embed="rId3">
            <a:alphaModFix amt="50000"/>
          </a:blip>
          <a:srcRect r="913" b="-1"/>
          <a:stretch>
            <a:fillRect/>
          </a:stretch>
        </p:blipFill>
        <p:spPr>
          <a:xfrm>
            <a:off x="20" y="10"/>
            <a:ext cx="12188930" cy="6857990"/>
          </a:xfrm>
          <a:prstGeom prst="rect">
            <a:avLst/>
          </a:prstGeom>
        </p:spPr>
      </p:pic>
      <p:sp>
        <p:nvSpPr>
          <p:cNvPr id="4" name="Title 3">
            <a:extLst>
              <a:ext uri="{FF2B5EF4-FFF2-40B4-BE49-F238E27FC236}">
                <a16:creationId xmlns:a16="http://schemas.microsoft.com/office/drawing/2014/main" id="{9C5DDE85-A3DC-6BF2-E609-8C6A1DC64FDD}"/>
              </a:ext>
            </a:extLst>
          </p:cNvPr>
          <p:cNvSpPr>
            <a:spLocks noGrp="1"/>
          </p:cNvSpPr>
          <p:nvPr>
            <p:ph type="ctrTitle"/>
          </p:nvPr>
        </p:nvSpPr>
        <p:spPr>
          <a:xfrm>
            <a:off x="4381215" y="3652372"/>
            <a:ext cx="7673163" cy="3063240"/>
          </a:xfrm>
        </p:spPr>
        <p:txBody>
          <a:bodyPr vert="horz" lIns="91440" tIns="45720" rIns="91440" bIns="45720" rtlCol="0" anchor="b">
            <a:normAutofit/>
          </a:bodyPr>
          <a:lstStyle/>
          <a:p>
            <a:pPr algn="ctr">
              <a:lnSpc>
                <a:spcPct val="90000"/>
              </a:lnSpc>
            </a:pPr>
            <a:r>
              <a:rPr lang="en-US" sz="6600" b="1" dirty="0">
                <a:solidFill>
                  <a:schemeClr val="bg1"/>
                </a:solidFill>
                <a:latin typeface="+mj-lt"/>
              </a:rPr>
              <a:t>Attrition Predictor</a:t>
            </a: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8C56BD9B-DC20-9879-0974-563853F429AD}"/>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spcAft>
                <a:spcPts val="600"/>
              </a:spcAft>
              <a:defRPr/>
            </a:pPr>
            <a:fld id="{58B792A5-9BAE-6942-BFE1-9FCDB51EA51E}" type="slidenum">
              <a:rPr lang="en-US" sz="1200">
                <a:solidFill>
                  <a:srgbClr val="FFFFFF"/>
                </a:solidFill>
                <a:latin typeface="Calibri" panose="020F0502020204030204"/>
              </a:rPr>
              <a:pPr>
                <a:spcAft>
                  <a:spcPts val="600"/>
                </a:spcAft>
                <a:defRPr/>
              </a:pPr>
              <a:t>11</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418911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4E9B4-A500-4FC0-1322-2FD7BCC475C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7357995-96DC-5375-FBC4-AB8F2AEA1B45}"/>
              </a:ext>
            </a:extLst>
          </p:cNvPr>
          <p:cNvSpPr txBox="1"/>
          <p:nvPr/>
        </p:nvSpPr>
        <p:spPr>
          <a:xfrm>
            <a:off x="438912" y="2512611"/>
            <a:ext cx="4832803" cy="3664351"/>
          </a:xfrm>
          <a:prstGeom prst="rect">
            <a:avLst/>
          </a:prstGeom>
        </p:spPr>
        <p:txBody>
          <a:bodyPr vert="horz" lIns="91440" tIns="45720" rIns="91440" bIns="45720" rtlCol="0">
            <a:normAutofit/>
          </a:bodyPr>
          <a:lstStyle/>
          <a:p>
            <a:pPr fontAlgn="t">
              <a:lnSpc>
                <a:spcPct val="90000"/>
              </a:lnSpc>
              <a:spcAft>
                <a:spcPts val="600"/>
              </a:spcAft>
            </a:pPr>
            <a:endParaRPr lang="en-US" b="0" i="0" dirty="0">
              <a:effectLst/>
            </a:endParaRPr>
          </a:p>
        </p:txBody>
      </p:sp>
      <p:sp>
        <p:nvSpPr>
          <p:cNvPr id="7" name="TextBox 6">
            <a:extLst>
              <a:ext uri="{FF2B5EF4-FFF2-40B4-BE49-F238E27FC236}">
                <a16:creationId xmlns:a16="http://schemas.microsoft.com/office/drawing/2014/main" id="{16600046-B8E0-FC66-9359-1435B6FF9B0B}"/>
              </a:ext>
            </a:extLst>
          </p:cNvPr>
          <p:cNvSpPr txBox="1"/>
          <p:nvPr/>
        </p:nvSpPr>
        <p:spPr>
          <a:xfrm>
            <a:off x="169555" y="1152461"/>
            <a:ext cx="5006467" cy="5547288"/>
          </a:xfrm>
          <a:prstGeom prst="rect">
            <a:avLst/>
          </a:prstGeom>
          <a:noFill/>
        </p:spPr>
        <p:txBody>
          <a:bodyPr wrap="square">
            <a:spAutoFit/>
          </a:bodyPr>
          <a:lstStyle/>
          <a:p>
            <a:pPr>
              <a:lnSpc>
                <a:spcPct val="110000"/>
              </a:lnSpc>
            </a:pPr>
            <a:r>
              <a:rPr lang="en-US" sz="1300" b="1">
                <a:latin typeface="Calibri" charset="0"/>
                <a:ea typeface="Calibri" charset="0"/>
                <a:cs typeface="Calibri" charset="0"/>
              </a:rPr>
              <a:t>Objective</a:t>
            </a:r>
          </a:p>
          <a:p>
            <a:pPr algn="just"/>
            <a:r>
              <a:rPr lang="en-US" sz="1300"/>
              <a:t>To create a system which can  improve on the attrition rate  by </a:t>
            </a:r>
          </a:p>
          <a:p>
            <a:pPr algn="just"/>
            <a:endParaRPr lang="en-US" sz="1300"/>
          </a:p>
          <a:p>
            <a:pPr marL="285750" indent="-285750" algn="just">
              <a:buFont typeface="Arial" panose="020B0604020202020204" pitchFamily="34" charset="0"/>
              <a:buChar char="•"/>
            </a:pPr>
            <a:r>
              <a:rPr lang="en-US" sz="1300"/>
              <a:t>Predicting the probability that an employee will leave</a:t>
            </a:r>
          </a:p>
          <a:p>
            <a:pPr marL="285750" indent="-285750" algn="just">
              <a:buFont typeface="Arial" panose="020B0604020202020204" pitchFamily="34" charset="0"/>
              <a:buChar char="•"/>
            </a:pPr>
            <a:r>
              <a:rPr lang="en-US" sz="1300"/>
              <a:t>Suggest the most probable reasons for an employee leaving the organization</a:t>
            </a:r>
          </a:p>
          <a:p>
            <a:pPr marL="285750" indent="-285750" algn="just">
              <a:buFont typeface="Arial" panose="020B0604020202020204" pitchFamily="34" charset="0"/>
              <a:buChar char="•"/>
            </a:pPr>
            <a:r>
              <a:rPr lang="en-US" sz="1300"/>
              <a:t>Identify the survival rate of employees in the organization</a:t>
            </a:r>
          </a:p>
          <a:p>
            <a:pPr marL="285750" indent="-285750" algn="just">
              <a:buFont typeface="Arial" panose="020B0604020202020204" pitchFamily="34" charset="0"/>
              <a:buChar char="•"/>
            </a:pPr>
            <a:endParaRPr lang="en-US" sz="1300"/>
          </a:p>
          <a:p>
            <a:pPr marL="0" lvl="3" indent="0">
              <a:lnSpc>
                <a:spcPct val="110000"/>
              </a:lnSpc>
              <a:buNone/>
            </a:pPr>
            <a:r>
              <a:rPr lang="en-US" sz="1300" b="1"/>
              <a:t>Solution Implemented</a:t>
            </a:r>
          </a:p>
          <a:p>
            <a:r>
              <a:rPr lang="en-US" sz="1300"/>
              <a:t>Attrition Predictor is a simple web app  to identify the probability of an employee leaving the company along with the most likely reasons.</a:t>
            </a:r>
          </a:p>
          <a:p>
            <a:r>
              <a:rPr lang="en-US" sz="1300"/>
              <a:t>Web application has following features:</a:t>
            </a:r>
          </a:p>
          <a:p>
            <a:endParaRPr lang="en-US" sz="1300"/>
          </a:p>
          <a:p>
            <a:pPr marL="285750" indent="-285750">
              <a:buFont typeface="Arial" panose="020B0604020202020204" pitchFamily="34" charset="0"/>
              <a:buChar char="•"/>
            </a:pPr>
            <a:r>
              <a:rPr lang="en-US" sz="1300"/>
              <a:t>Dashboard showing current attrition rate and the top 5 contributing factors for attrition</a:t>
            </a:r>
          </a:p>
          <a:p>
            <a:pPr marL="285750" indent="-285750">
              <a:buFont typeface="Arial" panose="020B0604020202020204" pitchFamily="34" charset="0"/>
              <a:buChar char="•"/>
            </a:pPr>
            <a:r>
              <a:rPr lang="en-US" sz="1300"/>
              <a:t>Upload a new file with employee data to get attrition probability for each employee along with a probable reason, </a:t>
            </a:r>
          </a:p>
          <a:p>
            <a:pPr marL="285750" indent="-285750">
              <a:buFont typeface="Arial" panose="020B0604020202020204" pitchFamily="34" charset="0"/>
              <a:buChar char="•"/>
            </a:pPr>
            <a:r>
              <a:rPr lang="en-US" sz="1300"/>
              <a:t>Upload a new file with employee data to get the survival analysis outcome for 0.5, 1 and 2 year</a:t>
            </a:r>
          </a:p>
          <a:p>
            <a:pPr marL="285750" indent="-285750">
              <a:buFont typeface="Arial" panose="020B0604020202020204" pitchFamily="34" charset="0"/>
              <a:buChar char="•"/>
            </a:pPr>
            <a:r>
              <a:rPr lang="en-US" sz="1300"/>
              <a:t>Upload historical data to retrain the model</a:t>
            </a:r>
          </a:p>
          <a:p>
            <a:pPr marL="285750" indent="-285750">
              <a:buFont typeface="Arial" panose="020B0604020202020204" pitchFamily="34" charset="0"/>
              <a:buChar char="•"/>
            </a:pPr>
            <a:r>
              <a:rPr lang="en-US" sz="1300"/>
              <a:t>Framework reusable for attrition prediction on different data sets &amp; customer churn analysis</a:t>
            </a:r>
          </a:p>
          <a:p>
            <a:pPr fontAlgn="t">
              <a:lnSpc>
                <a:spcPts val="1500"/>
              </a:lnSpc>
              <a:buNone/>
            </a:pPr>
            <a:endParaRPr lang="en-US" b="0" i="0" dirty="0">
              <a:effectLst/>
              <a:latin typeface="Segoe UI" panose="020B0502040204020203" pitchFamily="34" charset="0"/>
            </a:endParaRPr>
          </a:p>
        </p:txBody>
      </p:sp>
      <p:pic>
        <p:nvPicPr>
          <p:cNvPr id="8" name="Picture 7">
            <a:extLst>
              <a:ext uri="{FF2B5EF4-FFF2-40B4-BE49-F238E27FC236}">
                <a16:creationId xmlns:a16="http://schemas.microsoft.com/office/drawing/2014/main" id="{3AAA846B-E6AE-41DF-D561-3850287D1113}"/>
              </a:ext>
            </a:extLst>
          </p:cNvPr>
          <p:cNvPicPr>
            <a:picLocks noChangeAspect="1"/>
          </p:cNvPicPr>
          <p:nvPr/>
        </p:nvPicPr>
        <p:blipFill>
          <a:blip r:embed="rId3"/>
          <a:stretch>
            <a:fillRect/>
          </a:stretch>
        </p:blipFill>
        <p:spPr>
          <a:xfrm>
            <a:off x="5985266" y="502124"/>
            <a:ext cx="5608784" cy="2847132"/>
          </a:xfrm>
          <a:prstGeom prst="rect">
            <a:avLst/>
          </a:prstGeom>
        </p:spPr>
      </p:pic>
      <p:pic>
        <p:nvPicPr>
          <p:cNvPr id="9" name="Picture 8">
            <a:extLst>
              <a:ext uri="{FF2B5EF4-FFF2-40B4-BE49-F238E27FC236}">
                <a16:creationId xmlns:a16="http://schemas.microsoft.com/office/drawing/2014/main" id="{905898B7-0820-C20F-C056-33BA003D618F}"/>
              </a:ext>
            </a:extLst>
          </p:cNvPr>
          <p:cNvPicPr>
            <a:picLocks noChangeAspect="1"/>
          </p:cNvPicPr>
          <p:nvPr/>
        </p:nvPicPr>
        <p:blipFill>
          <a:blip r:embed="rId4"/>
          <a:stretch>
            <a:fillRect/>
          </a:stretch>
        </p:blipFill>
        <p:spPr>
          <a:xfrm>
            <a:off x="5759997" y="3706841"/>
            <a:ext cx="6137835" cy="2825756"/>
          </a:xfrm>
          <a:prstGeom prst="rect">
            <a:avLst/>
          </a:prstGeom>
        </p:spPr>
      </p:pic>
      <p:sp>
        <p:nvSpPr>
          <p:cNvPr id="2" name="TextBox 1">
            <a:extLst>
              <a:ext uri="{FF2B5EF4-FFF2-40B4-BE49-F238E27FC236}">
                <a16:creationId xmlns:a16="http://schemas.microsoft.com/office/drawing/2014/main" id="{B427D6E2-8D87-7FC3-B094-9D5D0734F7F0}"/>
              </a:ext>
            </a:extLst>
          </p:cNvPr>
          <p:cNvSpPr txBox="1"/>
          <p:nvPr/>
        </p:nvSpPr>
        <p:spPr>
          <a:xfrm>
            <a:off x="0" y="0"/>
            <a:ext cx="1520456" cy="369332"/>
          </a:xfrm>
          <a:prstGeom prst="rect">
            <a:avLst/>
          </a:prstGeom>
          <a:solidFill>
            <a:schemeClr val="bg1"/>
          </a:solidFill>
        </p:spPr>
        <p:txBody>
          <a:bodyPr wrap="square" rtlCol="0">
            <a:spAutoFit/>
          </a:bodyPr>
          <a:lstStyle/>
          <a:p>
            <a:endParaRPr lang="en-US" dirty="0"/>
          </a:p>
        </p:txBody>
      </p:sp>
      <p:sp>
        <p:nvSpPr>
          <p:cNvPr id="12" name="TextBox 11">
            <a:extLst>
              <a:ext uri="{FF2B5EF4-FFF2-40B4-BE49-F238E27FC236}">
                <a16:creationId xmlns:a16="http://schemas.microsoft.com/office/drawing/2014/main" id="{4931B653-5A00-028C-09DD-52E1A5E09BB5}"/>
              </a:ext>
            </a:extLst>
          </p:cNvPr>
          <p:cNvSpPr txBox="1"/>
          <p:nvPr/>
        </p:nvSpPr>
        <p:spPr>
          <a:xfrm>
            <a:off x="-1" y="-102498"/>
            <a:ext cx="6262577" cy="1243584"/>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dirty="0">
                <a:latin typeface="+mj-lt"/>
                <a:ea typeface="+mj-ea"/>
                <a:cs typeface="+mj-cs"/>
              </a:rPr>
              <a:t>High Level Architecture</a:t>
            </a:r>
          </a:p>
        </p:txBody>
      </p:sp>
      <p:sp>
        <p:nvSpPr>
          <p:cNvPr id="3" name="TextBox 2">
            <a:extLst>
              <a:ext uri="{FF2B5EF4-FFF2-40B4-BE49-F238E27FC236}">
                <a16:creationId xmlns:a16="http://schemas.microsoft.com/office/drawing/2014/main" id="{948870DD-7248-0EB2-8087-7C644D7C8081}"/>
              </a:ext>
            </a:extLst>
          </p:cNvPr>
          <p:cNvSpPr txBox="1"/>
          <p:nvPr/>
        </p:nvSpPr>
        <p:spPr>
          <a:xfrm>
            <a:off x="-1" y="6480429"/>
            <a:ext cx="152045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620941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E72BB5-F234-68CA-86FB-85BF4769FBD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05110E4-7247-CE36-F4DA-F1A58415689B}"/>
              </a:ext>
            </a:extLst>
          </p:cNvPr>
          <p:cNvPicPr>
            <a:picLocks noChangeAspect="1"/>
          </p:cNvPicPr>
          <p:nvPr/>
        </p:nvPicPr>
        <p:blipFill>
          <a:blip r:embed="rId3">
            <a:alphaModFix amt="50000"/>
          </a:blip>
          <a:srcRect r="913" b="-1"/>
          <a:stretch>
            <a:fillRect/>
          </a:stretch>
        </p:blipFill>
        <p:spPr>
          <a:xfrm>
            <a:off x="20" y="10"/>
            <a:ext cx="12188930" cy="6857990"/>
          </a:xfrm>
          <a:prstGeom prst="rect">
            <a:avLst/>
          </a:prstGeom>
        </p:spPr>
      </p:pic>
      <p:sp>
        <p:nvSpPr>
          <p:cNvPr id="4" name="Title 3">
            <a:extLst>
              <a:ext uri="{FF2B5EF4-FFF2-40B4-BE49-F238E27FC236}">
                <a16:creationId xmlns:a16="http://schemas.microsoft.com/office/drawing/2014/main" id="{D52E5F20-D6C2-06E3-107B-90F8B624F395}"/>
              </a:ext>
            </a:extLst>
          </p:cNvPr>
          <p:cNvSpPr>
            <a:spLocks noGrp="1"/>
          </p:cNvSpPr>
          <p:nvPr>
            <p:ph type="ctrTitle"/>
          </p:nvPr>
        </p:nvSpPr>
        <p:spPr>
          <a:xfrm>
            <a:off x="3433144" y="2734260"/>
            <a:ext cx="9144000" cy="3063240"/>
          </a:xfrm>
        </p:spPr>
        <p:txBody>
          <a:bodyPr vert="horz" lIns="91440" tIns="45720" rIns="91440" bIns="45720" rtlCol="0" anchor="b">
            <a:normAutofit/>
          </a:bodyPr>
          <a:lstStyle/>
          <a:p>
            <a:pPr algn="ctr">
              <a:lnSpc>
                <a:spcPct val="90000"/>
              </a:lnSpc>
            </a:pPr>
            <a:r>
              <a:rPr lang="en-US" sz="6000" b="1" dirty="0">
                <a:solidFill>
                  <a:schemeClr val="bg1"/>
                </a:solidFill>
                <a:latin typeface="+mj-lt"/>
              </a:rPr>
              <a:t>Ad Unit Segmentation</a:t>
            </a: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F8434956-B45D-7785-DD2D-62BC653C54FF}"/>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spcAft>
                <a:spcPts val="600"/>
              </a:spcAft>
              <a:defRPr/>
            </a:pPr>
            <a:fld id="{58B792A5-9BAE-6942-BFE1-9FCDB51EA51E}" type="slidenum">
              <a:rPr lang="en-US" sz="1200">
                <a:solidFill>
                  <a:srgbClr val="FFFFFF"/>
                </a:solidFill>
                <a:latin typeface="Calibri" panose="020F0502020204030204"/>
              </a:rPr>
              <a:pPr>
                <a:spcAft>
                  <a:spcPts val="600"/>
                </a:spcAft>
                <a:defRPr/>
              </a:pPr>
              <a:t>13</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337794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AC8D1-CEA6-D721-DB88-4FFF6F4D2EF4}"/>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976B42E-9960-68EF-DD0E-646CE5768A61}"/>
              </a:ext>
            </a:extLst>
          </p:cNvPr>
          <p:cNvSpPr txBox="1"/>
          <p:nvPr/>
        </p:nvSpPr>
        <p:spPr>
          <a:xfrm>
            <a:off x="212651" y="277560"/>
            <a:ext cx="4832802" cy="1243584"/>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dirty="0">
                <a:latin typeface="+mj-lt"/>
                <a:ea typeface="+mj-ea"/>
                <a:cs typeface="+mj-cs"/>
              </a:rPr>
              <a:t>High Level Architecture</a:t>
            </a:r>
          </a:p>
        </p:txBody>
      </p:sp>
      <p:sp>
        <p:nvSpPr>
          <p:cNvPr id="16" name="TextBox 15">
            <a:extLst>
              <a:ext uri="{FF2B5EF4-FFF2-40B4-BE49-F238E27FC236}">
                <a16:creationId xmlns:a16="http://schemas.microsoft.com/office/drawing/2014/main" id="{2514F369-7BA6-85AB-8B15-8FE6AC143476}"/>
              </a:ext>
            </a:extLst>
          </p:cNvPr>
          <p:cNvSpPr txBox="1"/>
          <p:nvPr/>
        </p:nvSpPr>
        <p:spPr>
          <a:xfrm>
            <a:off x="438912" y="2512611"/>
            <a:ext cx="4832803" cy="3664351"/>
          </a:xfrm>
          <a:prstGeom prst="rect">
            <a:avLst/>
          </a:prstGeom>
        </p:spPr>
        <p:txBody>
          <a:bodyPr vert="horz" lIns="91440" tIns="45720" rIns="91440" bIns="45720" rtlCol="0">
            <a:normAutofit/>
          </a:bodyPr>
          <a:lstStyle/>
          <a:p>
            <a:pPr fontAlgn="t">
              <a:lnSpc>
                <a:spcPct val="90000"/>
              </a:lnSpc>
              <a:spcAft>
                <a:spcPts val="600"/>
              </a:spcAft>
            </a:pPr>
            <a:endParaRPr lang="en-US" b="0" i="0" dirty="0">
              <a:effectLst/>
            </a:endParaRPr>
          </a:p>
        </p:txBody>
      </p:sp>
      <p:sp>
        <p:nvSpPr>
          <p:cNvPr id="7" name="TextBox 6">
            <a:extLst>
              <a:ext uri="{FF2B5EF4-FFF2-40B4-BE49-F238E27FC236}">
                <a16:creationId xmlns:a16="http://schemas.microsoft.com/office/drawing/2014/main" id="{0284667A-00FC-288B-467B-9601EAAC910D}"/>
              </a:ext>
            </a:extLst>
          </p:cNvPr>
          <p:cNvSpPr txBox="1"/>
          <p:nvPr/>
        </p:nvSpPr>
        <p:spPr>
          <a:xfrm>
            <a:off x="352079" y="1747483"/>
            <a:ext cx="5006467" cy="4139210"/>
          </a:xfrm>
          <a:prstGeom prst="rect">
            <a:avLst/>
          </a:prstGeom>
          <a:noFill/>
        </p:spPr>
        <p:txBody>
          <a:bodyPr wrap="square">
            <a:spAutoFit/>
          </a:bodyPr>
          <a:lstStyle/>
          <a:p>
            <a:pPr>
              <a:lnSpc>
                <a:spcPct val="110000"/>
              </a:lnSpc>
            </a:pPr>
            <a:r>
              <a:rPr lang="en-US" sz="1300" b="1">
                <a:latin typeface="Calibri" charset="0"/>
                <a:ea typeface="Calibri" charset="0"/>
                <a:cs typeface="Calibri" charset="0"/>
              </a:rPr>
              <a:t>Objective</a:t>
            </a:r>
          </a:p>
          <a:p>
            <a:pPr algn="just"/>
            <a:endParaRPr lang="en-US" sz="1300"/>
          </a:p>
          <a:p>
            <a:pPr algn="just"/>
            <a:r>
              <a:rPr lang="en-US" sz="1400">
                <a:latin typeface="SapientSansLight" charset="0"/>
                <a:ea typeface="SapientSansLight" charset="0"/>
                <a:cs typeface="SapientSansLight" charset="0"/>
                <a:sym typeface="Rockwell"/>
              </a:rPr>
              <a:t>Objective was to group various Ad units-based present on different Web sites and Mobile Apps based on their properties</a:t>
            </a:r>
            <a:br>
              <a:rPr lang="en-US" sz="2800"/>
            </a:br>
            <a:endParaRPr lang="en-US" sz="1300"/>
          </a:p>
          <a:p>
            <a:pPr marL="0" lvl="3" indent="0">
              <a:lnSpc>
                <a:spcPct val="110000"/>
              </a:lnSpc>
              <a:buNone/>
            </a:pPr>
            <a:r>
              <a:rPr lang="en-US" sz="1300" b="1"/>
              <a:t>Solution Implemented</a:t>
            </a:r>
          </a:p>
          <a:p>
            <a:pPr fontAlgn="t">
              <a:lnSpc>
                <a:spcPts val="1500"/>
              </a:lnSpc>
              <a:buNone/>
            </a:pPr>
            <a:endParaRPr lang="en-US" b="0" i="0">
              <a:effectLst/>
              <a:latin typeface="Segoe UI" panose="020B0502040204020203" pitchFamily="34" charset="0"/>
            </a:endParaRPr>
          </a:p>
          <a:p>
            <a:pPr marL="285750" indent="-285750">
              <a:buFont typeface="Arial" panose="020B0604020202020204" pitchFamily="34" charset="0"/>
              <a:buChar char="•"/>
            </a:pPr>
            <a:r>
              <a:rPr lang="en-US" sz="1400">
                <a:latin typeface="SapientSansLight" charset="0"/>
                <a:sym typeface="Rockwell"/>
              </a:rPr>
              <a:t>Around 0.1 million Ad units are there from different products like Mobile App, Website and FB Pages</a:t>
            </a:r>
          </a:p>
          <a:p>
            <a:endParaRPr lang="en-US" sz="1400">
              <a:latin typeface="SapientSansLight" charset="0"/>
              <a:sym typeface="Rockwell"/>
            </a:endParaRPr>
          </a:p>
          <a:p>
            <a:pPr marL="285750" indent="-285750">
              <a:buFont typeface="Arial" panose="020B0604020202020204" pitchFamily="34" charset="0"/>
              <a:buChar char="•"/>
            </a:pPr>
            <a:r>
              <a:rPr lang="en-US" sz="1400">
                <a:latin typeface="SapientSansLight" charset="0"/>
                <a:sym typeface="Rockwell"/>
              </a:rPr>
              <a:t> Derived new features like Position of Ad units, Cost per million etc. </a:t>
            </a:r>
          </a:p>
          <a:p>
            <a:endParaRPr lang="en-US" sz="1400">
              <a:latin typeface="SapientSansLight" charset="0"/>
              <a:sym typeface="Rockwell"/>
            </a:endParaRPr>
          </a:p>
          <a:p>
            <a:pPr marL="285750" indent="-285750">
              <a:buFont typeface="Arial" panose="020B0604020202020204" pitchFamily="34" charset="0"/>
              <a:buChar char="•"/>
            </a:pPr>
            <a:r>
              <a:rPr lang="en-US" sz="1400">
                <a:latin typeface="SapientSansLight" charset="0"/>
                <a:sym typeface="Rockwell"/>
              </a:rPr>
              <a:t>Later, Clustering was performed for Ad units generating Revenue of more than 0.1 million INR in 3 months</a:t>
            </a:r>
          </a:p>
          <a:p>
            <a:endParaRPr lang="en-US" sz="1400">
              <a:latin typeface="SapientSansLight" charset="0"/>
              <a:sym typeface="Rockwell"/>
            </a:endParaRPr>
          </a:p>
          <a:p>
            <a:pPr marL="285750" indent="-285750">
              <a:buFont typeface="Arial" panose="020B0604020202020204" pitchFamily="34" charset="0"/>
              <a:buChar char="•"/>
            </a:pPr>
            <a:r>
              <a:rPr lang="en-US" sz="1400">
                <a:latin typeface="SapientSansLight" charset="0"/>
                <a:sym typeface="Rockwell"/>
              </a:rPr>
              <a:t> Clustered Ad units helped in defining Strategy and pricing for each group</a:t>
            </a:r>
          </a:p>
          <a:p>
            <a:pPr fontAlgn="t">
              <a:lnSpc>
                <a:spcPts val="1500"/>
              </a:lnSpc>
              <a:buNone/>
            </a:pPr>
            <a:endParaRPr lang="en-US" b="0" i="0" dirty="0">
              <a:effectLst/>
              <a:latin typeface="Segoe UI" panose="020B0502040204020203" pitchFamily="34" charset="0"/>
            </a:endParaRPr>
          </a:p>
        </p:txBody>
      </p:sp>
      <p:pic>
        <p:nvPicPr>
          <p:cNvPr id="2" name="Picture 1">
            <a:extLst>
              <a:ext uri="{FF2B5EF4-FFF2-40B4-BE49-F238E27FC236}">
                <a16:creationId xmlns:a16="http://schemas.microsoft.com/office/drawing/2014/main" id="{8DCCCAAD-D0D1-8D3A-D948-38E633BBA6DC}"/>
              </a:ext>
            </a:extLst>
          </p:cNvPr>
          <p:cNvPicPr>
            <a:picLocks noChangeAspect="1"/>
          </p:cNvPicPr>
          <p:nvPr/>
        </p:nvPicPr>
        <p:blipFill>
          <a:blip r:embed="rId3"/>
          <a:stretch>
            <a:fillRect/>
          </a:stretch>
        </p:blipFill>
        <p:spPr>
          <a:xfrm>
            <a:off x="6523799" y="32458"/>
            <a:ext cx="4474929" cy="1947971"/>
          </a:xfrm>
          <a:prstGeom prst="rect">
            <a:avLst/>
          </a:prstGeom>
        </p:spPr>
      </p:pic>
      <p:pic>
        <p:nvPicPr>
          <p:cNvPr id="4" name="Picture 3">
            <a:extLst>
              <a:ext uri="{FF2B5EF4-FFF2-40B4-BE49-F238E27FC236}">
                <a16:creationId xmlns:a16="http://schemas.microsoft.com/office/drawing/2014/main" id="{6848BCEB-F972-71E1-4343-B29B1F367674}"/>
              </a:ext>
            </a:extLst>
          </p:cNvPr>
          <p:cNvPicPr>
            <a:picLocks noChangeAspect="1"/>
          </p:cNvPicPr>
          <p:nvPr/>
        </p:nvPicPr>
        <p:blipFill>
          <a:blip r:embed="rId4"/>
          <a:stretch>
            <a:fillRect/>
          </a:stretch>
        </p:blipFill>
        <p:spPr>
          <a:xfrm>
            <a:off x="5445379" y="1980429"/>
            <a:ext cx="6631770" cy="1836659"/>
          </a:xfrm>
          <a:prstGeom prst="rect">
            <a:avLst/>
          </a:prstGeom>
        </p:spPr>
      </p:pic>
      <p:pic>
        <p:nvPicPr>
          <p:cNvPr id="6" name="Picture 5">
            <a:extLst>
              <a:ext uri="{FF2B5EF4-FFF2-40B4-BE49-F238E27FC236}">
                <a16:creationId xmlns:a16="http://schemas.microsoft.com/office/drawing/2014/main" id="{111BF962-3FF0-78B0-5331-DFDCDCB7DC3C}"/>
              </a:ext>
            </a:extLst>
          </p:cNvPr>
          <p:cNvPicPr>
            <a:picLocks noChangeAspect="1"/>
          </p:cNvPicPr>
          <p:nvPr/>
        </p:nvPicPr>
        <p:blipFill>
          <a:blip r:embed="rId5"/>
          <a:stretch>
            <a:fillRect/>
          </a:stretch>
        </p:blipFill>
        <p:spPr>
          <a:xfrm>
            <a:off x="5581861" y="3928400"/>
            <a:ext cx="6440584" cy="2562112"/>
          </a:xfrm>
          <a:prstGeom prst="rect">
            <a:avLst/>
          </a:prstGeom>
        </p:spPr>
      </p:pic>
      <p:sp>
        <p:nvSpPr>
          <p:cNvPr id="3" name="TextBox 2">
            <a:extLst>
              <a:ext uri="{FF2B5EF4-FFF2-40B4-BE49-F238E27FC236}">
                <a16:creationId xmlns:a16="http://schemas.microsoft.com/office/drawing/2014/main" id="{92FA80B1-C668-5232-52A6-A94FC443CD08}"/>
              </a:ext>
            </a:extLst>
          </p:cNvPr>
          <p:cNvSpPr txBox="1"/>
          <p:nvPr/>
        </p:nvSpPr>
        <p:spPr>
          <a:xfrm>
            <a:off x="0" y="0"/>
            <a:ext cx="1520456" cy="369332"/>
          </a:xfrm>
          <a:prstGeom prst="rect">
            <a:avLst/>
          </a:prstGeom>
          <a:solidFill>
            <a:schemeClr val="bg1"/>
          </a:solidFill>
        </p:spPr>
        <p:txBody>
          <a:bodyPr wrap="square" rtlCol="0">
            <a:spAutoFit/>
          </a:bodyPr>
          <a:lstStyle/>
          <a:p>
            <a:endParaRPr lang="en-US" dirty="0"/>
          </a:p>
        </p:txBody>
      </p:sp>
      <p:sp>
        <p:nvSpPr>
          <p:cNvPr id="5" name="TextBox 4">
            <a:extLst>
              <a:ext uri="{FF2B5EF4-FFF2-40B4-BE49-F238E27FC236}">
                <a16:creationId xmlns:a16="http://schemas.microsoft.com/office/drawing/2014/main" id="{7947177B-CE7E-D734-52EF-3C139404832B}"/>
              </a:ext>
            </a:extLst>
          </p:cNvPr>
          <p:cNvSpPr txBox="1"/>
          <p:nvPr/>
        </p:nvSpPr>
        <p:spPr>
          <a:xfrm>
            <a:off x="0" y="6489405"/>
            <a:ext cx="152045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240520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7A1039-2B16-1D20-638B-DBDBFCA0D15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7F096C7-F4B7-2E54-BAD1-B98AEF645AA3}"/>
              </a:ext>
            </a:extLst>
          </p:cNvPr>
          <p:cNvPicPr>
            <a:picLocks noChangeAspect="1"/>
          </p:cNvPicPr>
          <p:nvPr/>
        </p:nvPicPr>
        <p:blipFill>
          <a:blip r:embed="rId3">
            <a:alphaModFix amt="50000"/>
          </a:blip>
          <a:srcRect r="913" b="-1"/>
          <a:stretch>
            <a:fillRect/>
          </a:stretch>
        </p:blipFill>
        <p:spPr>
          <a:xfrm>
            <a:off x="20" y="10"/>
            <a:ext cx="12188930" cy="6857990"/>
          </a:xfrm>
          <a:prstGeom prst="rect">
            <a:avLst/>
          </a:prstGeom>
        </p:spPr>
      </p:pic>
      <p:sp>
        <p:nvSpPr>
          <p:cNvPr id="4" name="Title 3">
            <a:extLst>
              <a:ext uri="{FF2B5EF4-FFF2-40B4-BE49-F238E27FC236}">
                <a16:creationId xmlns:a16="http://schemas.microsoft.com/office/drawing/2014/main" id="{F0299825-298C-56AD-1069-EDCAEABDD3D9}"/>
              </a:ext>
            </a:extLst>
          </p:cNvPr>
          <p:cNvSpPr>
            <a:spLocks noGrp="1"/>
          </p:cNvSpPr>
          <p:nvPr>
            <p:ph type="ctrTitle"/>
          </p:nvPr>
        </p:nvSpPr>
        <p:spPr>
          <a:xfrm>
            <a:off x="3746205" y="2653983"/>
            <a:ext cx="9144000" cy="3063240"/>
          </a:xfrm>
        </p:spPr>
        <p:txBody>
          <a:bodyPr vert="horz" lIns="91440" tIns="45720" rIns="91440" bIns="45720" rtlCol="0" anchor="b">
            <a:normAutofit/>
          </a:bodyPr>
          <a:lstStyle/>
          <a:p>
            <a:pPr algn="ctr">
              <a:lnSpc>
                <a:spcPct val="90000"/>
              </a:lnSpc>
            </a:pPr>
            <a:r>
              <a:rPr lang="en-US" sz="6600" b="1" dirty="0">
                <a:solidFill>
                  <a:schemeClr val="bg1"/>
                </a:solidFill>
                <a:latin typeface="+mj-lt"/>
              </a:rPr>
              <a:t>Thank You</a:t>
            </a: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EFBD17CA-744E-A2F6-3B03-60C2C2566A70}"/>
              </a:ext>
            </a:extLst>
          </p:cNvPr>
          <p:cNvSpPr>
            <a:spLocks noGrp="1"/>
          </p:cNvSpPr>
          <p:nvPr>
            <p:ph type="sldNum" sz="quarter" idx="14"/>
          </p:nvPr>
        </p:nvSpPr>
        <p:spPr>
          <a:xfrm>
            <a:off x="8610600" y="6356350"/>
            <a:ext cx="2743200" cy="365125"/>
          </a:xfrm>
        </p:spPr>
        <p:txBody>
          <a:bodyPr vert="horz" lIns="91440" tIns="45720" rIns="91440" bIns="45720" rtlCol="0" anchor="ctr">
            <a:normAutofit/>
          </a:bodyPr>
          <a:lstStyle/>
          <a:p>
            <a:pPr>
              <a:spcAft>
                <a:spcPts val="600"/>
              </a:spcAft>
              <a:defRPr/>
            </a:pPr>
            <a:fld id="{58B792A5-9BAE-6942-BFE1-9FCDB51EA51E}" type="slidenum">
              <a:rPr lang="en-US" sz="1200">
                <a:solidFill>
                  <a:srgbClr val="FFFFFF"/>
                </a:solidFill>
                <a:latin typeface="Calibri" panose="020F0502020204030204"/>
              </a:rPr>
              <a:pPr>
                <a:spcAft>
                  <a:spcPts val="600"/>
                </a:spcAft>
                <a:defRPr/>
              </a:pPr>
              <a:t>15</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323124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Agenda">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874100-6000-43b6-a204-2d77792600b9}" enabled="1" method="Standard" siteId="{f38a5ecd-2813-4862-b11b-ac1d563c806f}" contentBits="3" removed="0"/>
</clbl:labelList>
</file>

<file path=docProps/app.xml><?xml version="1.0" encoding="utf-8"?>
<Properties xmlns="http://schemas.openxmlformats.org/officeDocument/2006/extended-properties" xmlns:vt="http://schemas.openxmlformats.org/officeDocument/2006/docPropsVTypes">
  <TotalTime>5913</TotalTime>
  <Words>718</Words>
  <Application>Microsoft Office PowerPoint</Application>
  <PresentationFormat>Widescreen</PresentationFormat>
  <Paragraphs>134</Paragraphs>
  <Slides>15</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Futura Next Book</vt:lpstr>
      <vt:lpstr>Futura Next Medium</vt:lpstr>
      <vt:lpstr>SapientSansLight</vt:lpstr>
      <vt:lpstr>Arial</vt:lpstr>
      <vt:lpstr>Calibri</vt:lpstr>
      <vt:lpstr>Courier New</vt:lpstr>
      <vt:lpstr>Segoe UI</vt:lpstr>
      <vt:lpstr>Agenda</vt:lpstr>
      <vt:lpstr>Content</vt:lpstr>
      <vt:lpstr>Profile Overview</vt:lpstr>
      <vt:lpstr>PowerPoint Presentation</vt:lpstr>
      <vt:lpstr>Agenda</vt:lpstr>
      <vt:lpstr>PowerPoint Presentation</vt:lpstr>
      <vt:lpstr>Achievements and Extra-Curricular Activities</vt:lpstr>
      <vt:lpstr>PowerPoint Presentation</vt:lpstr>
      <vt:lpstr> Cost360 Assistant</vt:lpstr>
      <vt:lpstr>PowerPoint Presentation</vt:lpstr>
      <vt:lpstr>Text2SQL Using RAG</vt:lpstr>
      <vt:lpstr>PowerPoint Presentation</vt:lpstr>
      <vt:lpstr>Attrition Predictor</vt:lpstr>
      <vt:lpstr>PowerPoint Presentation</vt:lpstr>
      <vt:lpstr>Ad Unit Segmentation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Utkarsh Tripathi</cp:lastModifiedBy>
  <cp:revision>463</cp:revision>
  <dcterms:created xsi:type="dcterms:W3CDTF">2018-11-16T01:56:21Z</dcterms:created>
  <dcterms:modified xsi:type="dcterms:W3CDTF">2025-12-05T15:53:19Z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Brand Mark:8\Cover:8\Agenda:8\Divider:8\Quote:8\Voice:8\Content:8\Back Cover:8\1_Divider:5\Case Study:5\5_Content:10\6_Content:5</vt:lpwstr>
  </property>
  <property fmtid="{D5CDD505-2E9C-101B-9397-08002B2CF9AE}" pid="3" name="ClassificationContentMarkingFooterText">
    <vt:lpwstr>Micron Confidential</vt:lpwstr>
  </property>
  <property fmtid="{D5CDD505-2E9C-101B-9397-08002B2CF9AE}" pid="4" name="ClassificationContentMarkingHeaderLocations">
    <vt:lpwstr>Brand Mark:7\Cover:7\Agenda:7\Divider:7\Quote:7\Voice:7\Content:7\Back Cover:7\1_Divider:4\Case Study:4\5_Content:9\6_Content:4</vt:lpwstr>
  </property>
  <property fmtid="{D5CDD505-2E9C-101B-9397-08002B2CF9AE}" pid="5" name="ClassificationContentMarkingHeaderText">
    <vt:lpwstr>Micron Confidential</vt:lpwstr>
  </property>
</Properties>
</file>